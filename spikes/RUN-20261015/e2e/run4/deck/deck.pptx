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8e0775b240c9fdc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7348bf7380333d5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7a73c924d409a5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3f5c51fa0750fdf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5314afaa4fabebe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d18d55c9e3cb1ad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30c36f49b00edc6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ee08f39d38a85a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-full-scrim"/>
          <p:cNvSpPr/>
          <p:nvPr/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3000">
                <a:srgbClr val="000000">
                  <a:alpha val="10000"/>
                </a:srgbClr>
              </a:gs>
              <a:gs pos="100000">
                <a:srgbClr val="000000">
                  <a:alpha val="13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5" name="hero-full-title-slot"/>
          <p:cNvGrpSpPr/>
          <p:nvPr/>
        </p:nvGrpSpPr>
        <p:grpSpPr>
          <a:xfrm>
            <a:off x="742950" y="4480560"/>
            <a:ext cx="4561332" cy="819150"/>
            <a:chOff x="742950" y="4480560"/>
            <a:chExt cx="4561332" cy="819150"/>
          </a:xfrm>
        </p:grpSpPr>
        <p:sp>
          <p:nvSpPr>
            <p:cNvPr id="4" name="hero-full-title-carrier"/>
            <p:cNvSpPr txBox="1"/>
            <p:nvPr/>
          </p:nvSpPr>
          <p:spPr>
            <a:xfrm>
              <a:off x="742950" y="44805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mileySans"/>
                  <a:ea typeface="Microsoft YaHei"/>
                  <a:cs typeface="SmileySans"/>
                </a:rPr>
                <a:t>远程交付团队的周</a:t>
              </a:r>
            </a:p>
          </p:txBody>
        </p:sp>
      </p:grpSp>
      <p:grpSp>
        <p:nvGrpSpPr>
          <p:cNvPr id="7" name="hero-full-subtitle-slot"/>
          <p:cNvGrpSpPr/>
          <p:nvPr/>
        </p:nvGrpSpPr>
        <p:grpSpPr>
          <a:xfrm>
            <a:off x="754380" y="5610225"/>
            <a:ext cx="5901500" cy="293370"/>
            <a:chOff x="754380" y="5610225"/>
            <a:chExt cx="5901500" cy="293370"/>
          </a:xfrm>
        </p:grpSpPr>
        <p:sp>
          <p:nvSpPr>
            <p:cNvPr id="6" name="hero-full-subtitle-carrier"/>
            <p:cNvSpPr txBox="1"/>
            <p:nvPr/>
          </p:nvSpPr>
          <p:spPr>
            <a:xfrm>
              <a:off x="754380" y="5610225"/>
              <a:ext cx="5901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本次研究通过双源验证的核心发现有 5 条，具体判断见正文各节。</a:t>
              </a:r>
            </a:p>
          </p:txBody>
        </p:sp>
      </p:grpSp>
      <p:sp>
        <p:nvSpPr>
          <p:cNvPr id="8" name="agnes-accent-rule"/>
          <p:cNvSpPr/>
          <p:nvPr/>
        </p:nvSpPr>
        <p:spPr>
          <a:xfrm>
            <a:off x="762000" y="5334000"/>
            <a:ext cx="609600" cy="38100"/>
          </a:xfrm>
          <a:prstGeom prst="rect">
            <a:avLst/>
          </a:prstGeom>
          <a:solidFill>
            <a:srgbClr val="B4232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-side-scrim"/>
          <p:cNvSpPr/>
          <p:nvPr/>
        </p:nvSpPr>
        <p:spPr>
          <a:xfrm>
            <a:off x="0" y="0"/>
            <a:ext cx="8382000" cy="6858000"/>
          </a:xfrm>
          <a:prstGeom prst="rect">
            <a:avLst/>
          </a:prstGeom>
          <a:gradFill>
            <a:gsLst>
              <a:gs pos="0">
                <a:srgbClr val="000000">
                  <a:alpha val="14000"/>
                </a:srgbClr>
              </a:gs>
              <a:gs pos="82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5" name="hero-side-title-slot"/>
          <p:cNvGrpSpPr/>
          <p:nvPr/>
        </p:nvGrpSpPr>
        <p:grpSpPr>
          <a:xfrm>
            <a:off x="749808" y="2598420"/>
            <a:ext cx="993648" cy="469392"/>
            <a:chOff x="749808" y="2598420"/>
            <a:chExt cx="993648" cy="469392"/>
          </a:xfrm>
        </p:grpSpPr>
        <p:sp>
          <p:nvSpPr>
            <p:cNvPr id="4" name="hero-side-title-carrier"/>
            <p:cNvSpPr txBox="1"/>
            <p:nvPr/>
          </p:nvSpPr>
          <p:spPr>
            <a:xfrm>
              <a:off x="749808" y="25984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是什么</a:t>
              </a:r>
            </a:p>
          </p:txBody>
        </p:sp>
      </p:grpSp>
      <p:grpSp>
        <p:nvGrpSpPr>
          <p:cNvPr id="11" name="hero-side-body-slot"/>
          <p:cNvGrpSpPr/>
          <p:nvPr/>
        </p:nvGrpSpPr>
        <p:grpSpPr>
          <a:xfrm>
            <a:off x="754380" y="3629025"/>
            <a:ext cx="5265420" cy="1036320"/>
            <a:chOff x="754380" y="3629025"/>
            <a:chExt cx="5265420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36290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5355" y="3629025"/>
              <a:ext cx="3983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受访的 42 个远程交付团队平均每周召开 4.5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389572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小时同步会议，其中约三分之一没有形成任何可执行的决议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3719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355" y="43719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（example.com、example.org）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-side-scrim"/>
          <p:cNvSpPr/>
          <p:nvPr/>
        </p:nvSpPr>
        <p:spPr>
          <a:xfrm>
            <a:off x="0" y="0"/>
            <a:ext cx="8382000" cy="6858000"/>
          </a:xfrm>
          <a:prstGeom prst="rect">
            <a:avLst/>
          </a:prstGeom>
          <a:gradFill>
            <a:gsLst>
              <a:gs pos="0">
                <a:srgbClr val="000000">
                  <a:alpha val="14000"/>
                </a:srgbClr>
              </a:gs>
              <a:gs pos="82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5" name="hero-side-title-slot"/>
          <p:cNvGrpSpPr/>
          <p:nvPr/>
        </p:nvGrpSpPr>
        <p:grpSpPr>
          <a:xfrm>
            <a:off x="749808" y="2598420"/>
            <a:ext cx="1316736" cy="469392"/>
            <a:chOff x="749808" y="2598420"/>
            <a:chExt cx="1316736" cy="469392"/>
          </a:xfrm>
        </p:grpSpPr>
        <p:sp>
          <p:nvSpPr>
            <p:cNvPr id="4" name="hero-side-title-carrier"/>
            <p:cNvSpPr txBox="1"/>
            <p:nvPr/>
          </p:nvSpPr>
          <p:spPr>
            <a:xfrm>
              <a:off x="749808" y="25984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变了什么</a:t>
              </a:r>
            </a:p>
          </p:txBody>
        </p:sp>
      </p:grpSp>
      <p:grpSp>
        <p:nvGrpSpPr>
          <p:cNvPr id="11" name="hero-side-body-slot"/>
          <p:cNvGrpSpPr/>
          <p:nvPr/>
        </p:nvGrpSpPr>
        <p:grpSpPr>
          <a:xfrm>
            <a:off x="754380" y="3629025"/>
            <a:ext cx="4457700" cy="1036320"/>
            <a:chOff x="754380" y="3629025"/>
            <a:chExt cx="4457700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36290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5355" y="3629025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把每周例会从 60 分钟改成 25 分钟之后，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38957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会后书面纪要的平均字数不降反升，增加了约四成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3719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355" y="43719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（example.com、example.org）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-side-scrim"/>
          <p:cNvSpPr/>
          <p:nvPr/>
        </p:nvSpPr>
        <p:spPr>
          <a:xfrm>
            <a:off x="0" y="0"/>
            <a:ext cx="8382000" cy="6858000"/>
          </a:xfrm>
          <a:prstGeom prst="rect">
            <a:avLst/>
          </a:prstGeom>
          <a:gradFill>
            <a:gsLst>
              <a:gs pos="0">
                <a:srgbClr val="000000">
                  <a:alpha val="14000"/>
                </a:srgbClr>
              </a:gs>
              <a:gs pos="82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5" name="hero-side-title-slot"/>
          <p:cNvGrpSpPr/>
          <p:nvPr/>
        </p:nvGrpSpPr>
        <p:grpSpPr>
          <a:xfrm>
            <a:off x="749808" y="2598420"/>
            <a:ext cx="993648" cy="469392"/>
            <a:chOff x="749808" y="2598420"/>
            <a:chExt cx="993648" cy="469392"/>
          </a:xfrm>
        </p:grpSpPr>
        <p:sp>
          <p:nvSpPr>
            <p:cNvPr id="4" name="hero-side-title-carrier"/>
            <p:cNvSpPr txBox="1"/>
            <p:nvPr/>
          </p:nvSpPr>
          <p:spPr>
            <a:xfrm>
              <a:off x="749808" y="25984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</p:grpSp>
      <p:grpSp>
        <p:nvGrpSpPr>
          <p:cNvPr id="11" name="hero-side-body-slot"/>
          <p:cNvGrpSpPr/>
          <p:nvPr/>
        </p:nvGrpSpPr>
        <p:grpSpPr>
          <a:xfrm>
            <a:off x="754380" y="3629025"/>
            <a:ext cx="5648325" cy="1036320"/>
            <a:chOff x="754380" y="3629025"/>
            <a:chExt cx="5648325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36290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5355" y="36290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跨时区协作使固定时间的同步会议成本显著上升，参与方不得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38957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不在会议之外补齐上下文，异步文档因此成为默认选择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3719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355" y="43719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（example.org、example.net）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-side-scrim"/>
          <p:cNvSpPr/>
          <p:nvPr/>
        </p:nvSpPr>
        <p:spPr>
          <a:xfrm>
            <a:off x="0" y="0"/>
            <a:ext cx="8382000" cy="6858000"/>
          </a:xfrm>
          <a:prstGeom prst="rect">
            <a:avLst/>
          </a:prstGeom>
          <a:gradFill>
            <a:gsLst>
              <a:gs pos="0">
                <a:srgbClr val="000000">
                  <a:alpha val="14000"/>
                </a:srgbClr>
              </a:gs>
              <a:gs pos="82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5" name="hero-side-title-slot"/>
          <p:cNvGrpSpPr/>
          <p:nvPr/>
        </p:nvGrpSpPr>
        <p:grpSpPr>
          <a:xfrm>
            <a:off x="749808" y="2598420"/>
            <a:ext cx="1639824" cy="469392"/>
            <a:chOff x="749808" y="2598420"/>
            <a:chExt cx="1639824" cy="469392"/>
          </a:xfrm>
        </p:grpSpPr>
        <p:sp>
          <p:nvSpPr>
            <p:cNvPr id="4" name="hero-side-title-carrier"/>
            <p:cNvSpPr txBox="1"/>
            <p:nvPr/>
          </p:nvSpPr>
          <p:spPr>
            <a:xfrm>
              <a:off x="749808" y="25984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意味着什么</a:t>
              </a:r>
            </a:p>
          </p:txBody>
        </p:sp>
      </p:grpSp>
      <p:grpSp>
        <p:nvGrpSpPr>
          <p:cNvPr id="11" name="hero-side-body-slot"/>
          <p:cNvGrpSpPr/>
          <p:nvPr/>
        </p:nvGrpSpPr>
        <p:grpSpPr>
          <a:xfrm>
            <a:off x="754380" y="3629025"/>
            <a:ext cx="5648325" cy="1036320"/>
            <a:chOff x="754380" y="3629025"/>
            <a:chExt cx="5648325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36290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5355" y="36290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会议时长压缩之后，一线工程师单次不被打断的连续编码时长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389572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中位数从 1.8 小时提高到 2.6 小时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3719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355" y="43719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（example.com、example.net）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-side-scrim"/>
          <p:cNvSpPr/>
          <p:nvPr/>
        </p:nvSpPr>
        <p:spPr>
          <a:xfrm>
            <a:off x="0" y="0"/>
            <a:ext cx="8382000" cy="6858000"/>
          </a:xfrm>
          <a:prstGeom prst="rect">
            <a:avLst/>
          </a:prstGeom>
          <a:gradFill>
            <a:gsLst>
              <a:gs pos="0">
                <a:srgbClr val="000000">
                  <a:alpha val="14000"/>
                </a:srgbClr>
              </a:gs>
              <a:gs pos="82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5" name="hero-side-title-slot"/>
          <p:cNvGrpSpPr/>
          <p:nvPr/>
        </p:nvGrpSpPr>
        <p:grpSpPr>
          <a:xfrm>
            <a:off x="749808" y="2598420"/>
            <a:ext cx="1639824" cy="469392"/>
            <a:chOff x="749808" y="2598420"/>
            <a:chExt cx="1639824" cy="469392"/>
          </a:xfrm>
        </p:grpSpPr>
        <p:sp>
          <p:nvSpPr>
            <p:cNvPr id="4" name="hero-side-title-carrier"/>
            <p:cNvSpPr txBox="1"/>
            <p:nvPr/>
          </p:nvSpPr>
          <p:spPr>
            <a:xfrm>
              <a:off x="749808" y="25984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反例与边界</a:t>
              </a:r>
            </a:p>
          </p:txBody>
        </p:sp>
      </p:grpSp>
      <p:grpSp>
        <p:nvGrpSpPr>
          <p:cNvPr id="11" name="hero-side-body-slot"/>
          <p:cNvGrpSpPr/>
          <p:nvPr/>
        </p:nvGrpSpPr>
        <p:grpSpPr>
          <a:xfrm>
            <a:off x="754380" y="3629025"/>
            <a:ext cx="5648325" cy="1036320"/>
            <a:chOff x="754380" y="3629025"/>
            <a:chExt cx="5648325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36290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5355" y="36290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有两家团队在完全取消周会之后的两个月内交付事故数量翻倍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38957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，随后恢复了每周一次的同步会议并保留书面纪要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3719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355" y="43719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（example.net、example.com）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losing-full-scrim"/>
          <p:cNvSpPr/>
          <p:nvPr/>
        </p:nvSpPr>
        <p:spPr>
          <a:xfrm>
            <a:off x="0" y="2857500"/>
            <a:ext cx="12192000" cy="4000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0000">
                <a:srgbClr val="000000">
                  <a:alpha val="10000"/>
                </a:srgbClr>
              </a:gs>
              <a:gs pos="100000">
                <a:srgbClr val="000000">
                  <a:alpha val="14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5" name="closing-full-message-slot"/>
          <p:cNvGrpSpPr/>
          <p:nvPr/>
        </p:nvGrpSpPr>
        <p:grpSpPr>
          <a:xfrm>
            <a:off x="745236" y="4711065"/>
            <a:ext cx="1810512" cy="645414"/>
            <a:chOff x="745236" y="4711065"/>
            <a:chExt cx="1810512" cy="645414"/>
          </a:xfrm>
        </p:grpSpPr>
        <p:sp>
          <p:nvSpPr>
            <p:cNvPr id="4" name="closing-full-message-carrier"/>
            <p:cNvSpPr txBox="1"/>
            <p:nvPr/>
          </p:nvSpPr>
          <p:spPr>
            <a:xfrm>
              <a:off x="745236" y="47110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写在最后</a:t>
              </a:r>
            </a:p>
          </p:txBody>
        </p:sp>
      </p:grpSp>
      <p:grpSp>
        <p:nvGrpSpPr>
          <p:cNvPr id="7" name="closing-full-contact-slot"/>
          <p:cNvGrpSpPr/>
          <p:nvPr/>
        </p:nvGrpSpPr>
        <p:grpSpPr>
          <a:xfrm>
            <a:off x="754380" y="5686425"/>
            <a:ext cx="6325552" cy="293370"/>
            <a:chOff x="754380" y="5686425"/>
            <a:chExt cx="6325552" cy="293370"/>
          </a:xfrm>
        </p:grpSpPr>
        <p:sp>
          <p:nvSpPr>
            <p:cNvPr id="6" name="closing-full-contact-carrier"/>
            <p:cNvSpPr txBox="1"/>
            <p:nvPr/>
          </p:nvSpPr>
          <p:spPr>
            <a:xfrm>
              <a:off x="754380" y="5686425"/>
              <a:ext cx="6325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本篇基于 5 条双源验证的结论写成，覆盖——更多未经验证的发现见附录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-side-scrim"/>
          <p:cNvSpPr/>
          <p:nvPr/>
        </p:nvSpPr>
        <p:spPr>
          <a:xfrm>
            <a:off x="0" y="0"/>
            <a:ext cx="8382000" cy="6858000"/>
          </a:xfrm>
          <a:prstGeom prst="rect">
            <a:avLst/>
          </a:prstGeom>
          <a:gradFill>
            <a:gsLst>
              <a:gs pos="0">
                <a:srgbClr val="000000">
                  <a:alpha val="14000"/>
                </a:srgbClr>
              </a:gs>
              <a:gs pos="82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7" name="hero-side-title-slot"/>
          <p:cNvGrpSpPr/>
          <p:nvPr/>
        </p:nvGrpSpPr>
        <p:grpSpPr>
          <a:xfrm>
            <a:off x="752856" y="2377440"/>
            <a:ext cx="2926080" cy="923544"/>
            <a:chOff x="752856" y="2377440"/>
            <a:chExt cx="2926080" cy="923544"/>
          </a:xfrm>
        </p:grpSpPr>
        <p:sp>
          <p:nvSpPr>
            <p:cNvPr id="4" name="hero-side-title-carrier"/>
            <p:cNvSpPr txBox="1"/>
            <p:nvPr/>
          </p:nvSpPr>
          <p:spPr>
            <a:xfrm>
              <a:off x="752856" y="2377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附录：待验证（</a:t>
              </a:r>
            </a:p>
          </p:txBody>
        </p:sp>
        <p:sp>
          <p:nvSpPr>
            <p:cNvPr id="5" name="hero-side-title-carrier"/>
            <p:cNvSpPr txBox="1"/>
            <p:nvPr/>
          </p:nvSpPr>
          <p:spPr>
            <a:xfrm>
              <a:off x="752856" y="26631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未通过双源验证，不进正文</a:t>
              </a:r>
            </a:p>
          </p:txBody>
        </p:sp>
        <p:sp>
          <p:nvSpPr>
            <p:cNvPr id="6" name="hero-side-title-carrier"/>
            <p:cNvSpPr txBox="1"/>
            <p:nvPr/>
          </p:nvSpPr>
          <p:spPr>
            <a:xfrm>
              <a:off x="752856" y="29489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</p:grpSp>
      <p:grpSp>
        <p:nvGrpSpPr>
          <p:cNvPr id="17" name="hero-side-body-slot"/>
          <p:cNvGrpSpPr/>
          <p:nvPr/>
        </p:nvGrpSpPr>
        <p:grpSpPr>
          <a:xfrm>
            <a:off x="755904" y="3661410"/>
            <a:ext cx="5961126" cy="1530096"/>
            <a:chOff x="755904" y="3661410"/>
            <a:chExt cx="5961126" cy="1530096"/>
          </a:xfrm>
        </p:grpSpPr>
        <p:sp>
          <p:nvSpPr>
            <p:cNvPr id="8" name="TextBox 8"/>
            <p:cNvSpPr txBox="1"/>
            <p:nvPr/>
          </p:nvSpPr>
          <p:spPr>
            <a:xfrm>
              <a:off x="755904" y="36614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9254" y="3661410"/>
              <a:ext cx="5456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七成受访团队保留了每日站会这一形式，但把单次日站时长从 25 分钟压缩到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385191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了 10 分钟以内（example.net）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42138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9254" y="421386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书面状态更新工具普及以来，大约两成低价值同步会被异步文档取代，替代过程集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4404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中在近两年完成（example.net）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4766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9254" y="4766310"/>
              <a:ext cx="5666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纯异步流程下的新入职成员，首次提问到获得有效回复的等待时间中位数增加了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4956810"/>
              <a:ext cx="192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6 个小时（example.org）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ck">
  <a:themeElements>
    <a:clrScheme name="deck">
      <a:dk1>
        <a:srgbClr val="000000"/>
      </a:dk1>
      <a:lt1>
        <a:srgbClr val="08090C"/>
      </a:lt1>
      <a:dk2>
        <a:srgbClr val="1F497D"/>
      </a:dk2>
      <a:lt2>
        <a:srgbClr val="08090C"/>
      </a:lt2>
      <a:accent1>
        <a:srgbClr val="6E7BFF"/>
      </a:accent1>
      <a:accent2>
        <a:srgbClr val="6E7BFF"/>
      </a:accent2>
      <a:accent3>
        <a:srgbClr val="6E7BFF"/>
      </a:accent3>
      <a:accent4>
        <a:srgbClr val="8064A2"/>
      </a:accent4>
      <a:accent5>
        <a:srgbClr val="12131A"/>
      </a:accent5>
      <a:accent6>
        <a:srgbClr val="23242E"/>
      </a:accent6>
      <a:hlink>
        <a:srgbClr val="6E7BFF"/>
      </a:hlink>
      <a:folHlink>
        <a:srgbClr val="6E7BFF"/>
      </a:folHlink>
    </a:clrScheme>
    <a:fontScheme name="deck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2026-10-15T20:24:43Z</dcterms:created>
  <dcterms:modified xsi:type="dcterms:W3CDTF">2026-10-15T20:24:43Z</dcterms:modified>
  <cp:category/>
  <cp:contentStatus/>
</cp:coreProperties>
</file>