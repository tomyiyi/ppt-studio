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9144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3" name="Line 3"/>
          <p:cNvSpPr/>
          <p:nvPr/>
        </p:nvSpPr>
        <p:spPr>
          <a:xfrm>
            <a:off x="381000" y="1238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381000" y="15621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381000" y="18859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81000" y="2209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" y="25336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381000" y="285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3181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81000" y="3505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81000" y="3829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381000" y="4152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381000" y="4476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381000" y="48006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81000" y="51244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" y="54483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381000" y="57721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381000" y="64198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914400" y="38100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9525">
            <a:solidFill>
              <a:srgbClr val="C2410C">
                <a:alpha val="22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76047" y="523399"/>
            <a:ext cx="12170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封面 · 学习目标契约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69817" y="539591"/>
            <a:ext cx="445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5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BK-B1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" y="762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BFA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0808" y="1169670"/>
            <a:ext cx="454761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学完这份材料，你能独立跑通：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3950" y="1584960"/>
            <a:ext cx="730310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Markdown → 可编辑 PPTX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43000" y="2209800"/>
            <a:ext cx="7905750" cy="152400"/>
          </a:xfrm>
          <a:custGeom>
            <a:avLst/>
            <a:gdLst/>
            <a:ahLst/>
            <a:cxnLst/>
            <a:rect l="l" t="t" r="r" b="b"/>
            <a:pathLst>
              <a:path w="7905750" h="152400">
                <a:moveTo>
                  <a:pt x="0" y="0"/>
                </a:moveTo>
                <a:cubicBezTo>
                  <a:pt x="2667000" y="139700"/>
                  <a:pt x="5302250" y="152400"/>
                  <a:pt x="7905750" y="38100"/>
                </a:cubicBezTo>
              </a:path>
            </a:pathLst>
          </a:custGeom>
          <a:noFill/>
          <a:ln w="28575" cap="rnd">
            <a:solidFill>
              <a:srgbClr val="1B6B4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135380" y="26003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三个可检验的结果（不是「看完觉得会了」）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3856" y="3006090"/>
            <a:ext cx="1641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B6B45"/>
                </a:solidFill>
                <a:latin typeface="Consolas"/>
                <a:ea typeface="Consolas"/>
                <a:cs typeface="Consolas"/>
              </a:rPr>
              <a:t>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6380" y="30384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出片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65654" y="3070860"/>
            <a:ext cx="4174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给定一篇 md，跑出能在 PowerPoint 里改字改色的 .pptx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3856" y="3444240"/>
            <a:ext cx="1641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B6B45"/>
                </a:solidFill>
                <a:latin typeface="Consolas"/>
                <a:ea typeface="Consolas"/>
                <a:cs typeface="Consolas"/>
              </a:rPr>
              <a:t>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6380" y="347662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判合格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65654" y="3509010"/>
            <a:ext cx="3916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知道八道门禁各判什么，能自己复跑并读出 JSON 摘要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3856" y="3882390"/>
            <a:ext cx="1641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B6B45"/>
                </a:solidFill>
                <a:latin typeface="Consolas"/>
                <a:ea typeface="Consolas"/>
                <a:cs typeface="Consolas"/>
              </a:rPr>
              <a:t>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16380" y="39147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查翻车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65654" y="394716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图糊 / 图空 / 竖线三类现象，能说出真因和修法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01047" y="132349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B6B45"/>
                </a:solidFill>
                <a:latin typeface="ZCOOL KuaiLe"/>
                <a:ea typeface="Microsoft YaHei"/>
                <a:cs typeface="ZCOOL KuaiLe"/>
              </a:rPr>
              <a:t>这一句就是契约</a:t>
            </a:r>
          </a:p>
        </p:txBody>
      </p:sp>
      <p:sp>
        <p:nvSpPr>
          <p:cNvPr id="38" name="Freeform 38"/>
          <p:cNvSpPr/>
          <p:nvPr/>
        </p:nvSpPr>
        <p:spPr>
          <a:xfrm>
            <a:off x="8572500" y="1504950"/>
            <a:ext cx="1371600" cy="723900"/>
          </a:xfrm>
          <a:custGeom>
            <a:avLst/>
            <a:gdLst/>
            <a:ahLst/>
            <a:cxnLst/>
            <a:rect l="l" t="t" r="r" b="b"/>
            <a:pathLst>
              <a:path w="1371600" h="723900">
                <a:moveTo>
                  <a:pt x="1371600" y="0"/>
                </a:moveTo>
                <a:cubicBezTo>
                  <a:pt x="927100" y="330200"/>
                  <a:pt x="469900" y="571500"/>
                  <a:pt x="0" y="723900"/>
                </a:cubicBezTo>
              </a:path>
            </a:pathLst>
          </a:custGeom>
          <a:noFill/>
          <a:ln w="15240" cap="rnd">
            <a:solidFill>
              <a:srgbClr val="1B6B45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8543925" y="2200275"/>
            <a:ext cx="57150" cy="57150"/>
          </a:xfrm>
          <a:prstGeom prst="ellipse">
            <a:avLst/>
          </a:prstGeom>
          <a:solidFill>
            <a:srgbClr val="1B6B45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143000" y="4876800"/>
            <a:ext cx="10096500" cy="1428750"/>
          </a:xfrm>
          <a:prstGeom prst="roundRect">
            <a:avLst>
              <a:gd name="adj" fmla="val 4000"/>
            </a:avLst>
          </a:prstGeom>
          <a:solidFill>
            <a:srgbClr val="EDE6D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325880" y="503872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开始前的三个前提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27404" y="5375910"/>
            <a:ext cx="48147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5F5747"/>
              </a:buClr>
              <a:buSzTx/>
              <a:buFontTx/>
              <a:buChar char="•"/>
            </a:pPr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机器上有 3TB 工程中心的 ppt-studio（代码只认这一处真相源）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7404" y="5623560"/>
            <a:ext cx="37360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5F5747"/>
              </a:buClr>
              <a:buSzTx/>
              <a:buFontTx/>
              <a:buChar char="•"/>
            </a:pPr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生图通道可用（缺 key 只报变量名，不打印明文）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7404" y="5871210"/>
            <a:ext cx="44342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5F5747"/>
              </a:buClr>
              <a:buSzTx/>
              <a:buFontTx/>
              <a:buChar char="•"/>
            </a:pPr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Chrome headless 能截图 —— 看图被拦截时靠 OCR 客观验收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8047" y="6486049"/>
            <a:ext cx="60432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Consolas"/>
                <a:ea typeface="Microsoft YaHei"/>
                <a:cs typeface="Consolas"/>
              </a:rPr>
              <a:t>spike 样张 · 2026-10-08 · 版式来自 ppt-master workshop-teaching + sketch-notes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9144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3" name="Line 3"/>
          <p:cNvSpPr/>
          <p:nvPr/>
        </p:nvSpPr>
        <p:spPr>
          <a:xfrm>
            <a:off x="381000" y="1238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381000" y="15621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381000" y="18859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81000" y="2209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" y="25336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381000" y="285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3181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81000" y="3505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81000" y="3829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381000" y="4152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381000" y="4476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381000" y="48006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81000" y="51244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" y="54483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381000" y="57721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381000" y="64198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914400" y="38100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9525">
            <a:solidFill>
              <a:srgbClr val="C2410C">
                <a:alpha val="22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76047" y="523399"/>
            <a:ext cx="134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易错对照 · 图位与遮罩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69817" y="539591"/>
            <a:ext cx="445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5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BK-B3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" y="762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BFA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26236" y="1034415"/>
            <a:ext cx="714146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最容易翻车的一步：同一张图铺两遍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6904" y="1546860"/>
            <a:ext cx="43254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错面和对面并排摆 —— 只给正确答案，你会在下一次同样踩。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43000" y="1905000"/>
            <a:ext cx="3238500" cy="2190750"/>
          </a:xfrm>
          <a:prstGeom prst="roundRect">
            <a:avLst>
              <a:gd name="adj" fmla="val 2609"/>
            </a:avLst>
          </a:prstGeom>
          <a:solidFill>
            <a:srgbClr val="EDE6D6"/>
          </a:solidFill>
          <a:ln w="19050">
            <a:solidFill>
              <a:srgbClr val="C2410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87780" y="2047875"/>
            <a:ext cx="3443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2410C"/>
                </a:solidFill>
                <a:latin typeface="+mj-lt"/>
                <a:ea typeface="+mj-ea"/>
                <a:cs typeface="+mj-cs"/>
              </a:rPr>
              <a:t>! 错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333500" y="2362200"/>
            <a:ext cx="2857500" cy="1428750"/>
          </a:xfrm>
          <a:prstGeom prst="roundRect">
            <a:avLst>
              <a:gd name="adj" fmla="val 1333"/>
            </a:avLst>
          </a:prstGeom>
          <a:solidFill>
            <a:srgbClr val="C9BFA6">
              <a:alpha val="5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2000250" y="2952750"/>
            <a:ext cx="2000250" cy="742950"/>
          </a:xfrm>
          <a:prstGeom prst="roundRect">
            <a:avLst>
              <a:gd name="adj" fmla="val 2564"/>
            </a:avLst>
          </a:prstGeom>
          <a:solidFill>
            <a:srgbClr val="F7F4EC"/>
          </a:solidFill>
          <a:ln w="9525">
            <a:solidFill>
              <a:srgbClr val="C2410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327404" y="38328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2410C"/>
                </a:solidFill>
                <a:latin typeface="+mj-lt"/>
                <a:ea typeface="+mj-ea"/>
                <a:cs typeface="+mj-cs"/>
              </a:rPr>
              <a:t>铺底 + 面板都用它 → 重影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762500" y="1905000"/>
            <a:ext cx="3238500" cy="2190750"/>
          </a:xfrm>
          <a:prstGeom prst="roundRect">
            <a:avLst>
              <a:gd name="adj" fmla="val 2609"/>
            </a:avLst>
          </a:prstGeom>
          <a:solidFill>
            <a:srgbClr val="EDE6D6"/>
          </a:solidFill>
          <a:ln w="19050">
            <a:solidFill>
              <a:srgbClr val="1B6B4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907280" y="2047875"/>
            <a:ext cx="492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953000" y="2362200"/>
            <a:ext cx="2857500" cy="1428750"/>
          </a:xfrm>
          <a:prstGeom prst="roundRect">
            <a:avLst>
              <a:gd name="adj" fmla="val 1333"/>
            </a:avLst>
          </a:prstGeom>
          <a:solidFill>
            <a:srgbClr val="C9BFA6">
              <a:alpha val="55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619750" y="2952750"/>
            <a:ext cx="2000250" cy="742950"/>
          </a:xfrm>
          <a:prstGeom prst="roundRect">
            <a:avLst>
              <a:gd name="adj" fmla="val 2564"/>
            </a:avLst>
          </a:prstGeom>
          <a:solidFill>
            <a:srgbClr val="2B2A26">
              <a:alpha val="34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946904" y="38328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一页只挂一个图位；卡片透底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95800" y="2933700"/>
            <a:ext cx="666750" cy="133350"/>
          </a:xfrm>
          <a:custGeom>
            <a:avLst/>
            <a:gdLst/>
            <a:ahLst/>
            <a:cxnLst/>
            <a:rect l="l" t="t" r="r" b="b"/>
            <a:pathLst>
              <a:path w="666750" h="133350">
                <a:moveTo>
                  <a:pt x="0" y="114300"/>
                </a:moveTo>
                <a:cubicBezTo>
                  <a:pt x="254000" y="0"/>
                  <a:pt x="476250" y="6350"/>
                  <a:pt x="666750" y="133350"/>
                </a:cubicBezTo>
              </a:path>
            </a:pathLst>
          </a:custGeom>
          <a:noFill/>
          <a:ln w="22860" cap="rnd">
            <a:solidFill>
              <a:srgbClr val="1B6B4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374380" y="19716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遮罩按方向给，别整幅糊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382000" y="2247900"/>
            <a:ext cx="781050" cy="1085850"/>
          </a:xfrm>
          <a:prstGeom prst="rect">
            <a:avLst/>
          </a:prstGeom>
          <a:solidFill>
            <a:srgbClr val="2B2A26">
              <a:alpha val="92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15338" y="343519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0.00→0.92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258300" y="2362200"/>
            <a:ext cx="781050" cy="971550"/>
          </a:xfrm>
          <a:prstGeom prst="rect">
            <a:avLst/>
          </a:prstGeom>
          <a:solidFill>
            <a:srgbClr val="2B2A26">
              <a:alpha val="8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291638" y="343519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0.45→0.80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134600" y="2819400"/>
            <a:ext cx="781050" cy="514350"/>
          </a:xfrm>
          <a:prstGeom prst="rect">
            <a:avLst/>
          </a:prstGeom>
          <a:solidFill>
            <a:srgbClr val="2B2A26">
              <a:alpha val="3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167938" y="343519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0.62→0.30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1010900" y="3057525"/>
            <a:ext cx="781050" cy="276225"/>
          </a:xfrm>
          <a:prstGeom prst="rect">
            <a:avLst/>
          </a:prstGeom>
          <a:solidFill>
            <a:srgbClr val="2B2A26">
              <a:alpha val="4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044238" y="3435191"/>
            <a:ext cx="607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1.00→0.04</a:t>
            </a:r>
          </a:p>
        </p:txBody>
      </p:sp>
      <p:sp>
        <p:nvSpPr>
          <p:cNvPr id="46" name="Line 46"/>
          <p:cNvSpPr/>
          <p:nvPr/>
        </p:nvSpPr>
        <p:spPr>
          <a:xfrm>
            <a:off x="8382000" y="333375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9525">
            <a:solidFill>
              <a:srgbClr val="C9BFA6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375904" y="3623310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文字侧 0.92 · 空侧 0.04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58047" y="4047649"/>
            <a:ext cx="1329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45C9E"/>
                </a:solidFill>
                <a:latin typeface="ZCOOL KuaiLe"/>
                <a:ea typeface="Microsoft YaHei"/>
                <a:cs typeface="ZCOOL KuaiLe"/>
              </a:rPr>
              <a:t>这就是「墨量」从哪来</a:t>
            </a:r>
          </a:p>
        </p:txBody>
      </p:sp>
      <p:sp>
        <p:nvSpPr>
          <p:cNvPr id="49" name="Freeform 49"/>
          <p:cNvSpPr/>
          <p:nvPr/>
        </p:nvSpPr>
        <p:spPr>
          <a:xfrm>
            <a:off x="8772525" y="2762250"/>
            <a:ext cx="28575" cy="1466850"/>
          </a:xfrm>
          <a:custGeom>
            <a:avLst/>
            <a:gdLst/>
            <a:ahLst/>
            <a:cxnLst/>
            <a:rect l="l" t="t" r="r" b="b"/>
            <a:pathLst>
              <a:path w="28575" h="1466850">
                <a:moveTo>
                  <a:pt x="28575" y="1466850"/>
                </a:moveTo>
                <a:cubicBezTo>
                  <a:pt x="28575" y="1066800"/>
                  <a:pt x="19050" y="577850"/>
                  <a:pt x="0" y="0"/>
                </a:cubicBezTo>
              </a:path>
            </a:pathLst>
          </a:custGeom>
          <a:noFill/>
          <a:ln w="15240" cap="rnd">
            <a:solidFill>
              <a:srgbClr val="245C9E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8743950" y="2733675"/>
            <a:ext cx="57150" cy="57150"/>
          </a:xfrm>
          <a:prstGeom prst="ellipse">
            <a:avLst/>
          </a:prstGeom>
          <a:solidFill>
            <a:srgbClr val="245C9E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1143000" y="4400550"/>
            <a:ext cx="10096500" cy="438150"/>
          </a:xfrm>
          <a:prstGeom prst="roundRect">
            <a:avLst>
              <a:gd name="adj" fmla="val 8696"/>
            </a:avLst>
          </a:prstGeom>
          <a:solidFill>
            <a:srgbClr val="EDE6D6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327404" y="4537710"/>
            <a:ext cx="614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245C9E"/>
                </a:solidFill>
                <a:latin typeface="+mj-lt"/>
                <a:ea typeface="+mj-ea"/>
                <a:cs typeface="+mj-cs"/>
              </a:rPr>
              <a:t>+ scrim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851404" y="45377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方向性渐变，别整幅糊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62547" y="4561999"/>
            <a:ext cx="31073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0→0.92 / 0.45→0.80 / 0.62→0.30 / 1→0.04</a:t>
            </a:r>
          </a:p>
        </p:txBody>
      </p:sp>
      <p:sp>
        <p:nvSpPr>
          <p:cNvPr id="55" name="Rectangle 55"/>
          <p:cNvSpPr/>
          <p:nvPr/>
        </p:nvSpPr>
        <p:spPr>
          <a:xfrm>
            <a:off x="1143000" y="4933950"/>
            <a:ext cx="10096500" cy="438150"/>
          </a:xfrm>
          <a:prstGeom prst="roundRect">
            <a:avLst>
              <a:gd name="adj" fmla="val 8696"/>
            </a:avLst>
          </a:prstGeom>
          <a:solidFill>
            <a:srgbClr val="EDE6D6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327404" y="5071110"/>
            <a:ext cx="6567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panel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51404" y="50711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卡片让底图透出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662547" y="5095399"/>
            <a:ext cx="15188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fill-opacity="0.66"</a:t>
            </a:r>
          </a:p>
        </p:txBody>
      </p:sp>
      <p:sp>
        <p:nvSpPr>
          <p:cNvPr id="59" name="Rectangle 59"/>
          <p:cNvSpPr/>
          <p:nvPr/>
        </p:nvSpPr>
        <p:spPr>
          <a:xfrm>
            <a:off x="1143000" y="5467350"/>
            <a:ext cx="10096500" cy="438150"/>
          </a:xfrm>
          <a:prstGeom prst="roundRect">
            <a:avLst>
              <a:gd name="adj" fmla="val 8696"/>
            </a:avLst>
          </a:prstGeom>
          <a:solidFill>
            <a:srgbClr val="EDE6D6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327404" y="56045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clip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851404" y="5604510"/>
            <a:ext cx="16034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clip-path 挂 &lt;image&gt;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62547" y="5628799"/>
            <a:ext cx="19402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Consolas"/>
                <a:ea typeface="Microsoft YaHei"/>
                <a:cs typeface="Consolas"/>
              </a:rPr>
              <a:t>挂外层 &lt;g&gt; → 门禁 blocking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8047" y="6143149"/>
            <a:ext cx="55904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标为简化：这里的数值来自本项目 spec_lock 的实测收紧记录，不是通用标准；换项目要重定。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38047" y="6466999"/>
            <a:ext cx="24181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Consolas"/>
                <a:ea typeface="Microsoft YaHei"/>
                <a:cs typeface="Consolas"/>
              </a:rPr>
              <a:t>版本 workflow_full · 2026-10-08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9144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3" name="Line 3"/>
          <p:cNvSpPr/>
          <p:nvPr/>
        </p:nvSpPr>
        <p:spPr>
          <a:xfrm>
            <a:off x="381000" y="1238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381000" y="15621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381000" y="18859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81000" y="2209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" y="25336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381000" y="285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3181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81000" y="3505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81000" y="3829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381000" y="4152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381000" y="4476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381000" y="48006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81000" y="51244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" y="54483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381000" y="57721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381000" y="64198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9BFA6">
                <a:alpha val="35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914400" y="38100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9525">
            <a:solidFill>
              <a:srgbClr val="C2410C">
                <a:alpha val="22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76047" y="523399"/>
            <a:ext cx="134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参考卡 · 出片自检清单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69817" y="539591"/>
            <a:ext cx="445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50" dirty="0">
                <a:solidFill>
                  <a:srgbClr val="5F5747"/>
                </a:solidFill>
                <a:latin typeface="Consolas"/>
                <a:ea typeface="Consolas"/>
                <a:cs typeface="Consolas"/>
              </a:rPr>
              <a:t>BK-B2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" y="762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BFA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26236" y="1053465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出片前必跑：八项自检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6904" y="1584960"/>
            <a:ext cx="33561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这一页允许密 —— 它是查表用的，不是读用的。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43000" y="1962150"/>
            <a:ext cx="9334500" cy="304800"/>
          </a:xfrm>
          <a:prstGeom prst="roundRect">
            <a:avLst>
              <a:gd name="adj" fmla="val 12500"/>
            </a:avLst>
          </a:prstGeom>
          <a:solidFill>
            <a:srgbClr val="EDE6D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52347" y="2056924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查什么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95347" y="2056924"/>
            <a:ext cx="2737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判据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91097" y="2056924"/>
            <a:ext cx="6969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阈值 / 算法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34347" y="2056924"/>
            <a:ext cx="2737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性质</a:t>
            </a:r>
          </a:p>
        </p:txBody>
      </p:sp>
      <p:sp>
        <p:nvSpPr>
          <p:cNvPr id="31" name="Line 31"/>
          <p:cNvSpPr/>
          <p:nvPr/>
        </p:nvSpPr>
        <p:spPr>
          <a:xfrm>
            <a:off x="1143000" y="26860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251204" y="2404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字号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94204" y="2404110"/>
            <a:ext cx="264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所有文本字号落在 spec_lock 九档内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91097" y="2428399"/>
            <a:ext cx="24450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9 档 11/13/16/20/24/32/44/56/96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43897" y="2428399"/>
            <a:ext cx="453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必做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143000" y="2686050"/>
            <a:ext cx="9334500" cy="419100"/>
          </a:xfrm>
          <a:prstGeom prst="rect">
            <a:avLst/>
          </a:prstGeom>
          <a:solidFill>
            <a:srgbClr val="F7F4EC">
              <a:alpha val="60000"/>
            </a:srgbClr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1143000" y="31051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251204" y="2823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底图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94204" y="2823210"/>
            <a:ext cx="20234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最大 image 面积 / 画布面积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91097" y="2847499"/>
            <a:ext cx="4070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Consolas"/>
                <a:cs typeface="Consolas"/>
              </a:rPr>
              <a:t>≥ 90%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43897" y="2847499"/>
            <a:ext cx="453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必做</a:t>
            </a:r>
          </a:p>
        </p:txBody>
      </p:sp>
      <p:sp>
        <p:nvSpPr>
          <p:cNvPr id="42" name="Line 42"/>
          <p:cNvSpPr/>
          <p:nvPr/>
        </p:nvSpPr>
        <p:spPr>
          <a:xfrm>
            <a:off x="1143000" y="35242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251204" y="32423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重影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394204" y="32423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同一源图不在一页出现两次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91097" y="3266599"/>
            <a:ext cx="15431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href 去重 = 每页 1 次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43897" y="3266599"/>
            <a:ext cx="3568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C2410C"/>
                </a:solidFill>
                <a:latin typeface="+mj-lt"/>
                <a:ea typeface="+mj-ea"/>
                <a:cs typeface="+mj-cs"/>
              </a:rPr>
              <a:t>! 易错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143000" y="3524250"/>
            <a:ext cx="9334500" cy="419100"/>
          </a:xfrm>
          <a:prstGeom prst="rect">
            <a:avLst/>
          </a:prstGeom>
          <a:solidFill>
            <a:srgbClr val="F7F4EC">
              <a:alpha val="60000"/>
            </a:srgbClr>
          </a:solidFill>
          <a:ln>
            <a:noFill/>
          </a:ln>
        </p:spPr>
      </p:sp>
      <p:sp>
        <p:nvSpPr>
          <p:cNvPr id="48" name="Line 48"/>
          <p:cNvSpPr/>
          <p:nvPr/>
        </p:nvSpPr>
        <p:spPr>
          <a:xfrm>
            <a:off x="1143000" y="39433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251204" y="3661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溢出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94204" y="36614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文本不超出画布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91097" y="3685699"/>
            <a:ext cx="15700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按 text-anchor 算边界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843897" y="3685699"/>
            <a:ext cx="453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必做</a:t>
            </a:r>
          </a:p>
        </p:txBody>
      </p:sp>
      <p:sp>
        <p:nvSpPr>
          <p:cNvPr id="53" name="Line 53"/>
          <p:cNvSpPr/>
          <p:nvPr/>
        </p:nvSpPr>
        <p:spPr>
          <a:xfrm>
            <a:off x="1143000" y="43624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1251204" y="40805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压行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394204" y="40805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相邻文本行不碰撞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91097" y="4104799"/>
            <a:ext cx="8552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行盒交集 = 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843897" y="4104799"/>
            <a:ext cx="453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必做</a:t>
            </a:r>
          </a:p>
        </p:txBody>
      </p:sp>
      <p:sp>
        <p:nvSpPr>
          <p:cNvPr id="58" name="Rectangle 58"/>
          <p:cNvSpPr/>
          <p:nvPr/>
        </p:nvSpPr>
        <p:spPr>
          <a:xfrm>
            <a:off x="1143000" y="4362450"/>
            <a:ext cx="9334500" cy="419100"/>
          </a:xfrm>
          <a:prstGeom prst="rect">
            <a:avLst/>
          </a:prstGeom>
          <a:solidFill>
            <a:srgbClr val="F7F4EC">
              <a:alpha val="60000"/>
            </a:srgbClr>
          </a:solidFill>
          <a:ln>
            <a:noFill/>
          </a:ln>
        </p:spPr>
      </p:sp>
      <p:sp>
        <p:nvSpPr>
          <p:cNvPr id="59" name="Line 59"/>
          <p:cNvSpPr/>
          <p:nvPr/>
        </p:nvSpPr>
        <p:spPr>
          <a:xfrm>
            <a:off x="1143000" y="47815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1251204" y="4499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面板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394204" y="44996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面板区域墨量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491097" y="4523899"/>
            <a:ext cx="3275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Consolas"/>
                <a:cs typeface="Consolas"/>
              </a:rPr>
              <a:t>≥ 6%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43897" y="4523899"/>
            <a:ext cx="453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B6B45"/>
                </a:solidFill>
                <a:latin typeface="+mj-lt"/>
                <a:ea typeface="+mj-ea"/>
                <a:cs typeface="+mj-cs"/>
              </a:rPr>
              <a:t>✓ 必做</a:t>
            </a:r>
          </a:p>
        </p:txBody>
      </p:sp>
      <p:sp>
        <p:nvSpPr>
          <p:cNvPr id="64" name="Line 64"/>
          <p:cNvSpPr/>
          <p:nvPr/>
        </p:nvSpPr>
        <p:spPr>
          <a:xfrm>
            <a:off x="1143000" y="52006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51204" y="49187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对比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394204" y="4918710"/>
            <a:ext cx="12807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WCAG 文本对比度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491097" y="4942999"/>
            <a:ext cx="18070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≥ 4.5:1（底色取 20 分位）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843897" y="4942999"/>
            <a:ext cx="3568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C2410C"/>
                </a:solidFill>
                <a:latin typeface="+mj-lt"/>
                <a:ea typeface="+mj-ea"/>
                <a:cs typeface="+mj-cs"/>
              </a:rPr>
              <a:t>! 易错</a:t>
            </a:r>
          </a:p>
        </p:txBody>
      </p:sp>
      <p:sp>
        <p:nvSpPr>
          <p:cNvPr id="69" name="Rectangle 69"/>
          <p:cNvSpPr/>
          <p:nvPr/>
        </p:nvSpPr>
        <p:spPr>
          <a:xfrm>
            <a:off x="1143000" y="5200650"/>
            <a:ext cx="9334500" cy="419100"/>
          </a:xfrm>
          <a:prstGeom prst="rect">
            <a:avLst/>
          </a:prstGeom>
          <a:solidFill>
            <a:srgbClr val="F7F4EC">
              <a:alpha val="60000"/>
            </a:srgbClr>
          </a:solidFill>
          <a:ln>
            <a:noFill/>
          </a:ln>
        </p:spPr>
      </p:sp>
      <p:sp>
        <p:nvSpPr>
          <p:cNvPr id="70" name="Line 70"/>
          <p:cNvSpPr/>
          <p:nvPr/>
        </p:nvSpPr>
        <p:spPr>
          <a:xfrm>
            <a:off x="1143000" y="56197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1251204" y="5337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2A26"/>
                </a:solidFill>
                <a:latin typeface="+mj-lt"/>
                <a:ea typeface="+mj-ea"/>
                <a:cs typeface="+mj-cs"/>
              </a:rPr>
              <a:t>标题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394204" y="5337810"/>
            <a:ext cx="1393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每页根节点带 title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491097" y="5362099"/>
            <a:ext cx="22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2B2A26"/>
                </a:solidFill>
                <a:latin typeface="Consolas"/>
                <a:ea typeface="Microsoft YaHei"/>
                <a:cs typeface="Consolas"/>
              </a:rPr>
              <a:t>&lt;title&gt; 存在（18 条 WARN → 0）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843897" y="5362099"/>
            <a:ext cx="3915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45C9E"/>
                </a:solidFill>
                <a:latin typeface="+mj-lt"/>
                <a:ea typeface="+mj-ea"/>
                <a:cs typeface="+mj-cs"/>
              </a:rPr>
              <a:t>+ 新加</a:t>
            </a:r>
          </a:p>
        </p:txBody>
      </p:sp>
      <p:sp>
        <p:nvSpPr>
          <p:cNvPr id="75" name="Line 75"/>
          <p:cNvSpPr/>
          <p:nvPr/>
        </p:nvSpPr>
        <p:spPr>
          <a:xfrm>
            <a:off x="1143000" y="56197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C9BFA6"/>
            </a:solidFill>
          </a:ln>
        </p:spPr>
      </p:sp>
      <p:sp>
        <p:nvSpPr>
          <p:cNvPr id="76" name="Line 76"/>
          <p:cNvSpPr/>
          <p:nvPr/>
        </p:nvSpPr>
        <p:spPr>
          <a:xfrm>
            <a:off x="2286000" y="1962150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77" name="Line 77"/>
          <p:cNvSpPr/>
          <p:nvPr/>
        </p:nvSpPr>
        <p:spPr>
          <a:xfrm>
            <a:off x="6381750" y="1962150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78" name="Line 78"/>
          <p:cNvSpPr/>
          <p:nvPr/>
        </p:nvSpPr>
        <p:spPr>
          <a:xfrm>
            <a:off x="9525000" y="1962150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/>
          <a:ln w="7620">
            <a:solidFill>
              <a:srgbClr val="C9BFA6"/>
            </a:solidFill>
          </a:ln>
        </p:spPr>
      </p:sp>
      <p:sp>
        <p:nvSpPr>
          <p:cNvPr id="79" name="Rectangle 79"/>
          <p:cNvSpPr/>
          <p:nvPr/>
        </p:nvSpPr>
        <p:spPr>
          <a:xfrm>
            <a:off x="1143000" y="5619750"/>
            <a:ext cx="57150" cy="36576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377297" y="58002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C2410C"/>
                </a:solidFill>
                <a:latin typeface="ZCOOL KuaiLe"/>
                <a:ea typeface="Microsoft YaHei"/>
                <a:cs typeface="ZCOOL KuaiLe"/>
              </a:rPr>
              <a:t>这两项最容易忘</a:t>
            </a:r>
          </a:p>
        </p:txBody>
      </p:sp>
      <p:sp>
        <p:nvSpPr>
          <p:cNvPr id="81" name="Freeform 81"/>
          <p:cNvSpPr/>
          <p:nvPr/>
        </p:nvSpPr>
        <p:spPr>
          <a:xfrm>
            <a:off x="9963150" y="4991100"/>
            <a:ext cx="457200" cy="990600"/>
          </a:xfrm>
          <a:custGeom>
            <a:avLst/>
            <a:gdLst/>
            <a:ahLst/>
            <a:cxnLst/>
            <a:rect l="l" t="t" r="r" b="b"/>
            <a:pathLst>
              <a:path w="457200" h="990600">
                <a:moveTo>
                  <a:pt x="457200" y="990600"/>
                </a:moveTo>
                <a:cubicBezTo>
                  <a:pt x="317500" y="749300"/>
                  <a:pt x="165100" y="419100"/>
                  <a:pt x="0" y="0"/>
                </a:cubicBezTo>
              </a:path>
            </a:pathLst>
          </a:custGeom>
          <a:noFill/>
          <a:ln w="15240" cap="rnd">
            <a:solidFill>
              <a:srgbClr val="C2410C"/>
            </a:solidFill>
          </a:ln>
        </p:spPr>
      </p:sp>
      <p:sp>
        <p:nvSpPr>
          <p:cNvPr id="82" name="Ellipse 82"/>
          <p:cNvSpPr/>
          <p:nvPr/>
        </p:nvSpPr>
        <p:spPr>
          <a:xfrm>
            <a:off x="9934575" y="4962525"/>
            <a:ext cx="57150" cy="5715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1136904" y="5928360"/>
            <a:ext cx="34369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5747"/>
                </a:solidFill>
                <a:latin typeface="+mj-lt"/>
                <a:ea typeface="+mj-ea"/>
                <a:cs typeface="+mj-cs"/>
              </a:rPr>
              <a:t>✓ 必做 ! 易错 + 新加（本轮补的根 title 门禁）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38047" y="6181249"/>
            <a:ext cx="53513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F5747"/>
                </a:solidFill>
                <a:latin typeface="Consolas"/>
                <a:ea typeface="Microsoft YaHei"/>
                <a:cs typeface="Consolas"/>
              </a:rPr>
              <a:t>版本 workflow_full · 2026-10-08 —— 阈值随版本变，用前先核对 spec_lock.md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B">
  <a:themeElements>
    <a:clrScheme name="projB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projB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2026-10-08T07:45:02Z</dcterms:created>
  <dcterms:modified xsi:type="dcterms:W3CDTF">2026-10-08T07:45:02Z</dcterms:modified>
  <cp:category/>
  <cp:contentStatus/>
</cp:coreProperties>
</file>