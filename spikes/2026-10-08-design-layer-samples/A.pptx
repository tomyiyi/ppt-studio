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A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A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38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1143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1905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266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3429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419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4953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5715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647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7239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00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8763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9525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1028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11049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1181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381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5" name="Line 35"/>
          <p:cNvSpPr/>
          <p:nvPr/>
        </p:nvSpPr>
        <p:spPr>
          <a:xfrm>
            <a:off x="0" y="114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6" name="Line 36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7" name="Line 37"/>
          <p:cNvSpPr/>
          <p:nvPr/>
        </p:nvSpPr>
        <p:spPr>
          <a:xfrm>
            <a:off x="0" y="190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8" name="Line 38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9" name="Line 39"/>
          <p:cNvSpPr/>
          <p:nvPr/>
        </p:nvSpPr>
        <p:spPr>
          <a:xfrm>
            <a:off x="0" y="2667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0" name="Line 4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1" name="Line 41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2" name="Line 42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3" name="Line 43"/>
          <p:cNvSpPr/>
          <p:nvPr/>
        </p:nvSpPr>
        <p:spPr>
          <a:xfrm>
            <a:off x="0" y="4191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4" name="Line 44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5" name="Line 45"/>
          <p:cNvSpPr/>
          <p:nvPr/>
        </p:nvSpPr>
        <p:spPr>
          <a:xfrm>
            <a:off x="0" y="495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6" name="Line 4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7" name="Line 47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8" name="Line 48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9" name="Line 49"/>
          <p:cNvSpPr/>
          <p:nvPr/>
        </p:nvSpPr>
        <p:spPr>
          <a:xfrm>
            <a:off x="0" y="6477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50" name="Line 50"/>
          <p:cNvSpPr/>
          <p:nvPr/>
        </p:nvSpPr>
        <p:spPr>
          <a:xfrm>
            <a:off x="381000" y="8763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4A7BA7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76238" y="558641"/>
            <a:ext cx="21241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225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RUNHUA / PPT PIPELINE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69817" y="558641"/>
            <a:ext cx="445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spc="150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BK-A1</a:t>
            </a:r>
          </a:p>
        </p:txBody>
      </p:sp>
      <p:sp>
        <p:nvSpPr>
          <p:cNvPr id="53" name="Rectangle 53"/>
          <p:cNvSpPr/>
          <p:nvPr/>
        </p:nvSpPr>
        <p:spPr>
          <a:xfrm>
            <a:off x="9620250" y="5981700"/>
            <a:ext cx="2190750" cy="590550"/>
          </a:xfrm>
          <a:prstGeom prst="rect">
            <a:avLst/>
          </a:prstGeom>
          <a:solidFill>
            <a:srgbClr val="16283C"/>
          </a:solidFill>
          <a:ln w="9525">
            <a:solidFill>
              <a:srgbClr val="4A7BA7"/>
            </a:solidFill>
          </a:ln>
        </p:spPr>
      </p:sp>
      <p:sp>
        <p:nvSpPr>
          <p:cNvPr id="54" name="Line 54"/>
          <p:cNvSpPr/>
          <p:nvPr/>
        </p:nvSpPr>
        <p:spPr>
          <a:xfrm>
            <a:off x="9620250" y="6181725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7620">
            <a:solidFill>
              <a:srgbClr val="4A7BA7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729788" y="6045041"/>
            <a:ext cx="99525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TITLE BLOCK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729597" y="6257449"/>
            <a:ext cx="13489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封面 · 图纸式管线示意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729788" y="6426041"/>
            <a:ext cx="16708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16:9 · spike · 2026-10-08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1950" y="975360"/>
            <a:ext cx="952195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把一篇文章，变成一份可编辑的 PPTX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73380" y="1704975"/>
            <a:ext cx="552792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七阶段管线 · 每阶段一道可机器判定的门禁 · 结论能回查到源</a:t>
            </a:r>
          </a:p>
        </p:txBody>
      </p:sp>
      <p:sp>
        <p:nvSpPr>
          <p:cNvPr id="60" name="Rectangle 60"/>
          <p:cNvSpPr/>
          <p:nvPr/>
        </p:nvSpPr>
        <p:spPr>
          <a:xfrm>
            <a:off x="419100" y="2857500"/>
            <a:ext cx="1504950" cy="742950"/>
          </a:xfrm>
          <a:prstGeom prst="rect">
            <a:avLst/>
          </a:prstGeom>
          <a:solidFill>
            <a:srgbClr val="16283C"/>
          </a:solidFill>
          <a:ln w="9525">
            <a:solidFill>
              <a:srgbClr val="4A7BA7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528638" y="2977991"/>
            <a:ext cx="1712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4A7BA7"/>
                </a:solidFill>
                <a:latin typeface="Consolas"/>
                <a:ea typeface="Consolas"/>
                <a:cs typeface="Consolas"/>
              </a:rPr>
              <a:t>S1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28447" y="3171349"/>
            <a:ext cx="8835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E6EDF5"/>
                </a:solidFill>
                <a:latin typeface="Consolas"/>
                <a:ea typeface="Consolas"/>
                <a:cs typeface="Consolas"/>
              </a:rPr>
              <a:t>md_to_pages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28447" y="3380899"/>
            <a:ext cx="6101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文字→页型</a:t>
            </a:r>
          </a:p>
        </p:txBody>
      </p:sp>
      <p:sp>
        <p:nvSpPr>
          <p:cNvPr id="64" name="Line 64"/>
          <p:cNvSpPr/>
          <p:nvPr/>
        </p:nvSpPr>
        <p:spPr>
          <a:xfrm>
            <a:off x="1924050" y="3228975"/>
            <a:ext cx="133350" cy="9525"/>
          </a:xfrm>
          <a:custGeom>
            <a:avLst/>
            <a:gdLst/>
            <a:ahLst/>
            <a:cxnLst/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9525">
            <a:solidFill>
              <a:srgbClr val="4A7BA7"/>
            </a:solidFill>
          </a:ln>
        </p:spPr>
      </p:sp>
      <p:sp>
        <p:nvSpPr>
          <p:cNvPr id="65" name="Freeform 65"/>
          <p:cNvSpPr/>
          <p:nvPr/>
        </p:nvSpPr>
        <p:spPr>
          <a:xfrm>
            <a:off x="1990725" y="3209925"/>
            <a:ext cx="57150" cy="38100"/>
          </a:xfrm>
          <a:custGeom>
            <a:avLst/>
            <a:gdLst/>
            <a:ahLst/>
            <a:cxnLst/>
            <a:rect l="l" t="t" r="r" b="b"/>
            <a:pathLst>
              <a:path w="57150" h="38100">
                <a:moveTo>
                  <a:pt x="0" y="0"/>
                </a:moveTo>
                <a:lnTo>
                  <a:pt x="57150" y="0"/>
                </a:lnTo>
                <a:lnTo>
                  <a:pt x="28575" y="38100"/>
                </a:lnTo>
                <a:close/>
              </a:path>
            </a:pathLst>
          </a:custGeom>
          <a:solidFill>
            <a:srgbClr val="4A7BA7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2057400" y="2857500"/>
            <a:ext cx="1504950" cy="742950"/>
          </a:xfrm>
          <a:prstGeom prst="rect">
            <a:avLst/>
          </a:prstGeom>
          <a:solidFill>
            <a:srgbClr val="16283C"/>
          </a:solidFill>
          <a:ln w="9525">
            <a:solidFill>
              <a:srgbClr val="4A7BA7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2166938" y="2977991"/>
            <a:ext cx="1712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4A7BA7"/>
                </a:solidFill>
                <a:latin typeface="Consolas"/>
                <a:ea typeface="Consolas"/>
                <a:cs typeface="Consolas"/>
              </a:rPr>
              <a:t>S2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166747" y="3171349"/>
            <a:ext cx="9629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E6EDF5"/>
                </a:solidFill>
                <a:latin typeface="Consolas"/>
                <a:ea typeface="Consolas"/>
                <a:cs typeface="Consolas"/>
              </a:rPr>
              <a:t>agnes_bridge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166747" y="3380899"/>
            <a:ext cx="8014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按页意图生图</a:t>
            </a:r>
          </a:p>
        </p:txBody>
      </p:sp>
      <p:sp>
        <p:nvSpPr>
          <p:cNvPr id="70" name="Line 70"/>
          <p:cNvSpPr/>
          <p:nvPr/>
        </p:nvSpPr>
        <p:spPr>
          <a:xfrm>
            <a:off x="3562350" y="3228975"/>
            <a:ext cx="133350" cy="9525"/>
          </a:xfrm>
          <a:custGeom>
            <a:avLst/>
            <a:gdLst/>
            <a:ahLst/>
            <a:cxnLst/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9525">
            <a:solidFill>
              <a:srgbClr val="4A7BA7"/>
            </a:solidFill>
          </a:ln>
        </p:spPr>
      </p:sp>
      <p:sp>
        <p:nvSpPr>
          <p:cNvPr id="71" name="Freeform 71"/>
          <p:cNvSpPr/>
          <p:nvPr/>
        </p:nvSpPr>
        <p:spPr>
          <a:xfrm>
            <a:off x="3629025" y="3209925"/>
            <a:ext cx="57150" cy="38100"/>
          </a:xfrm>
          <a:custGeom>
            <a:avLst/>
            <a:gdLst/>
            <a:ahLst/>
            <a:cxnLst/>
            <a:rect l="l" t="t" r="r" b="b"/>
            <a:pathLst>
              <a:path w="57150" h="38100">
                <a:moveTo>
                  <a:pt x="0" y="0"/>
                </a:moveTo>
                <a:lnTo>
                  <a:pt x="57150" y="0"/>
                </a:lnTo>
                <a:lnTo>
                  <a:pt x="28575" y="38100"/>
                </a:lnTo>
                <a:close/>
              </a:path>
            </a:pathLst>
          </a:custGeom>
          <a:solidFill>
            <a:srgbClr val="4A7BA7"/>
          </a:solidFill>
          <a:ln>
            <a:noFill/>
          </a:ln>
        </p:spPr>
      </p:sp>
      <p:sp>
        <p:nvSpPr>
          <p:cNvPr id="72" name="Rectangle 72"/>
          <p:cNvSpPr/>
          <p:nvPr/>
        </p:nvSpPr>
        <p:spPr>
          <a:xfrm>
            <a:off x="3695700" y="2857500"/>
            <a:ext cx="1504950" cy="742950"/>
          </a:xfrm>
          <a:prstGeom prst="rect">
            <a:avLst/>
          </a:prstGeom>
          <a:solidFill>
            <a:srgbClr val="16283C"/>
          </a:solidFill>
          <a:ln w="9525">
            <a:solidFill>
              <a:srgbClr val="4A7BA7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805238" y="2977991"/>
            <a:ext cx="1712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4A7BA7"/>
                </a:solidFill>
                <a:latin typeface="Consolas"/>
                <a:ea typeface="Consolas"/>
                <a:cs typeface="Consolas"/>
              </a:rPr>
              <a:t>S3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805047" y="3171349"/>
            <a:ext cx="13600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E6EDF5"/>
                </a:solidFill>
                <a:latin typeface="Consolas"/>
                <a:ea typeface="Consolas"/>
                <a:cs typeface="Consolas"/>
              </a:rPr>
              <a:t>template_renderer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805047" y="338089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版式落位</a:t>
            </a:r>
          </a:p>
        </p:txBody>
      </p:sp>
      <p:sp>
        <p:nvSpPr>
          <p:cNvPr id="76" name="Line 76"/>
          <p:cNvSpPr/>
          <p:nvPr/>
        </p:nvSpPr>
        <p:spPr>
          <a:xfrm>
            <a:off x="5200650" y="3228975"/>
            <a:ext cx="133350" cy="9525"/>
          </a:xfrm>
          <a:custGeom>
            <a:avLst/>
            <a:gdLst/>
            <a:ahLst/>
            <a:cxnLst/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9525">
            <a:solidFill>
              <a:srgbClr val="4A7BA7"/>
            </a:solidFill>
          </a:ln>
        </p:spPr>
      </p:sp>
      <p:sp>
        <p:nvSpPr>
          <p:cNvPr id="77" name="Freeform 77"/>
          <p:cNvSpPr/>
          <p:nvPr/>
        </p:nvSpPr>
        <p:spPr>
          <a:xfrm>
            <a:off x="5267325" y="3209925"/>
            <a:ext cx="57150" cy="38100"/>
          </a:xfrm>
          <a:custGeom>
            <a:avLst/>
            <a:gdLst/>
            <a:ahLst/>
            <a:cxnLst/>
            <a:rect l="l" t="t" r="r" b="b"/>
            <a:pathLst>
              <a:path w="57150" h="38100">
                <a:moveTo>
                  <a:pt x="0" y="0"/>
                </a:moveTo>
                <a:lnTo>
                  <a:pt x="57150" y="0"/>
                </a:lnTo>
                <a:lnTo>
                  <a:pt x="28575" y="38100"/>
                </a:lnTo>
                <a:close/>
              </a:path>
            </a:pathLst>
          </a:custGeom>
          <a:solidFill>
            <a:srgbClr val="4A7BA7"/>
          </a:solidFill>
          <a:ln>
            <a:noFill/>
          </a:ln>
        </p:spPr>
      </p:sp>
      <p:sp>
        <p:nvSpPr>
          <p:cNvPr id="78" name="Rectangle 78"/>
          <p:cNvSpPr/>
          <p:nvPr/>
        </p:nvSpPr>
        <p:spPr>
          <a:xfrm>
            <a:off x="5334000" y="2857500"/>
            <a:ext cx="1504950" cy="742950"/>
          </a:xfrm>
          <a:prstGeom prst="rect">
            <a:avLst/>
          </a:prstGeom>
          <a:solidFill>
            <a:srgbClr val="16283C"/>
          </a:solidFill>
          <a:ln w="15240">
            <a:solidFill>
              <a:srgbClr val="4FC9E8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5443538" y="2977991"/>
            <a:ext cx="1712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S4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443347" y="3171349"/>
            <a:ext cx="10423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E6EDF5"/>
                </a:solidFill>
                <a:latin typeface="Consolas"/>
                <a:ea typeface="Consolas"/>
                <a:cs typeface="Consolas"/>
              </a:rPr>
              <a:t>plan_contract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443347" y="3380899"/>
            <a:ext cx="8740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门禁·结构契约</a:t>
            </a:r>
          </a:p>
        </p:txBody>
      </p:sp>
      <p:sp>
        <p:nvSpPr>
          <p:cNvPr id="82" name="Line 82"/>
          <p:cNvSpPr/>
          <p:nvPr/>
        </p:nvSpPr>
        <p:spPr>
          <a:xfrm>
            <a:off x="6838950" y="3228975"/>
            <a:ext cx="133350" cy="9525"/>
          </a:xfrm>
          <a:custGeom>
            <a:avLst/>
            <a:gdLst/>
            <a:ahLst/>
            <a:cxnLst/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9525">
            <a:solidFill>
              <a:srgbClr val="4A7BA7"/>
            </a:solidFill>
          </a:ln>
        </p:spPr>
      </p:sp>
      <p:sp>
        <p:nvSpPr>
          <p:cNvPr id="83" name="Freeform 83"/>
          <p:cNvSpPr/>
          <p:nvPr/>
        </p:nvSpPr>
        <p:spPr>
          <a:xfrm>
            <a:off x="6905625" y="3209925"/>
            <a:ext cx="57150" cy="38100"/>
          </a:xfrm>
          <a:custGeom>
            <a:avLst/>
            <a:gdLst/>
            <a:ahLst/>
            <a:cxnLst/>
            <a:rect l="l" t="t" r="r" b="b"/>
            <a:pathLst>
              <a:path w="57150" h="38100">
                <a:moveTo>
                  <a:pt x="0" y="0"/>
                </a:moveTo>
                <a:lnTo>
                  <a:pt x="57150" y="0"/>
                </a:lnTo>
                <a:lnTo>
                  <a:pt x="28575" y="38100"/>
                </a:lnTo>
                <a:close/>
              </a:path>
            </a:pathLst>
          </a:custGeom>
          <a:solidFill>
            <a:srgbClr val="4A7BA7"/>
          </a:solidFill>
          <a:ln>
            <a:noFill/>
          </a:ln>
        </p:spPr>
      </p:sp>
      <p:sp>
        <p:nvSpPr>
          <p:cNvPr id="84" name="Rectangle 84"/>
          <p:cNvSpPr/>
          <p:nvPr/>
        </p:nvSpPr>
        <p:spPr>
          <a:xfrm>
            <a:off x="6972300" y="2857500"/>
            <a:ext cx="1504950" cy="742950"/>
          </a:xfrm>
          <a:prstGeom prst="rect">
            <a:avLst/>
          </a:prstGeom>
          <a:solidFill>
            <a:srgbClr val="16283C"/>
          </a:solidFill>
          <a:ln w="15240">
            <a:solidFill>
              <a:srgbClr val="4FC9E8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7081838" y="2977991"/>
            <a:ext cx="1712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S5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081647" y="3171349"/>
            <a:ext cx="6452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E6EDF5"/>
                </a:solidFill>
                <a:latin typeface="Consolas"/>
                <a:ea typeface="Consolas"/>
                <a:cs typeface="Consolas"/>
              </a:rPr>
              <a:t>qa_score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081647" y="3380899"/>
            <a:ext cx="8740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门禁·内容完整</a:t>
            </a:r>
          </a:p>
        </p:txBody>
      </p:sp>
      <p:sp>
        <p:nvSpPr>
          <p:cNvPr id="88" name="Line 88"/>
          <p:cNvSpPr/>
          <p:nvPr/>
        </p:nvSpPr>
        <p:spPr>
          <a:xfrm>
            <a:off x="8477250" y="3228975"/>
            <a:ext cx="133350" cy="9525"/>
          </a:xfrm>
          <a:custGeom>
            <a:avLst/>
            <a:gdLst/>
            <a:ahLst/>
            <a:cxnLst/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9525">
            <a:solidFill>
              <a:srgbClr val="4A7BA7"/>
            </a:solidFill>
          </a:ln>
        </p:spPr>
      </p:sp>
      <p:sp>
        <p:nvSpPr>
          <p:cNvPr id="89" name="Freeform 89"/>
          <p:cNvSpPr/>
          <p:nvPr/>
        </p:nvSpPr>
        <p:spPr>
          <a:xfrm>
            <a:off x="8543925" y="3209925"/>
            <a:ext cx="57150" cy="38100"/>
          </a:xfrm>
          <a:custGeom>
            <a:avLst/>
            <a:gdLst/>
            <a:ahLst/>
            <a:cxnLst/>
            <a:rect l="l" t="t" r="r" b="b"/>
            <a:pathLst>
              <a:path w="57150" h="38100">
                <a:moveTo>
                  <a:pt x="0" y="0"/>
                </a:moveTo>
                <a:lnTo>
                  <a:pt x="57150" y="0"/>
                </a:lnTo>
                <a:lnTo>
                  <a:pt x="28575" y="38100"/>
                </a:lnTo>
                <a:close/>
              </a:path>
            </a:pathLst>
          </a:custGeom>
          <a:solidFill>
            <a:srgbClr val="4A7BA7"/>
          </a:solidFill>
          <a:ln>
            <a:noFill/>
          </a:ln>
        </p:spPr>
      </p:sp>
      <p:sp>
        <p:nvSpPr>
          <p:cNvPr id="90" name="Rectangle 90"/>
          <p:cNvSpPr/>
          <p:nvPr/>
        </p:nvSpPr>
        <p:spPr>
          <a:xfrm>
            <a:off x="8610600" y="2857500"/>
            <a:ext cx="1504950" cy="742950"/>
          </a:xfrm>
          <a:prstGeom prst="rect">
            <a:avLst/>
          </a:prstGeom>
          <a:solidFill>
            <a:srgbClr val="16283C"/>
          </a:solidFill>
          <a:ln w="15240">
            <a:solidFill>
              <a:srgbClr val="4FC9E8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8720138" y="2977991"/>
            <a:ext cx="1712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S6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719947" y="3171349"/>
            <a:ext cx="12012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E6EDF5"/>
                </a:solidFill>
                <a:latin typeface="Consolas"/>
                <a:ea typeface="Consolas"/>
                <a:cs typeface="Consolas"/>
              </a:rPr>
              <a:t>quality_checker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8719947" y="3380899"/>
            <a:ext cx="8861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门禁·SVG 规范</a:t>
            </a:r>
          </a:p>
        </p:txBody>
      </p:sp>
      <p:sp>
        <p:nvSpPr>
          <p:cNvPr id="94" name="Line 94"/>
          <p:cNvSpPr/>
          <p:nvPr/>
        </p:nvSpPr>
        <p:spPr>
          <a:xfrm>
            <a:off x="10115550" y="3228975"/>
            <a:ext cx="133350" cy="9525"/>
          </a:xfrm>
          <a:custGeom>
            <a:avLst/>
            <a:gdLst/>
            <a:ahLst/>
            <a:cxnLst/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9525">
            <a:solidFill>
              <a:srgbClr val="4A7BA7"/>
            </a:solidFill>
          </a:ln>
        </p:spPr>
      </p:sp>
      <p:sp>
        <p:nvSpPr>
          <p:cNvPr id="95" name="Freeform 95"/>
          <p:cNvSpPr/>
          <p:nvPr/>
        </p:nvSpPr>
        <p:spPr>
          <a:xfrm>
            <a:off x="10182225" y="3209925"/>
            <a:ext cx="57150" cy="38100"/>
          </a:xfrm>
          <a:custGeom>
            <a:avLst/>
            <a:gdLst/>
            <a:ahLst/>
            <a:cxnLst/>
            <a:rect l="l" t="t" r="r" b="b"/>
            <a:pathLst>
              <a:path w="57150" h="38100">
                <a:moveTo>
                  <a:pt x="0" y="0"/>
                </a:moveTo>
                <a:lnTo>
                  <a:pt x="57150" y="0"/>
                </a:lnTo>
                <a:lnTo>
                  <a:pt x="28575" y="38100"/>
                </a:lnTo>
                <a:close/>
              </a:path>
            </a:pathLst>
          </a:custGeom>
          <a:solidFill>
            <a:srgbClr val="4A7BA7"/>
          </a:solidFill>
          <a:ln>
            <a:noFill/>
          </a:ln>
        </p:spPr>
      </p:sp>
      <p:sp>
        <p:nvSpPr>
          <p:cNvPr id="96" name="Rectangle 96"/>
          <p:cNvSpPr/>
          <p:nvPr/>
        </p:nvSpPr>
        <p:spPr>
          <a:xfrm>
            <a:off x="10248900" y="2857500"/>
            <a:ext cx="1504950" cy="742950"/>
          </a:xfrm>
          <a:prstGeom prst="rect">
            <a:avLst/>
          </a:prstGeom>
          <a:solidFill>
            <a:srgbClr val="16283C"/>
          </a:solidFill>
          <a:ln w="9525">
            <a:solidFill>
              <a:srgbClr val="4A7BA7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10358438" y="2977991"/>
            <a:ext cx="1712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4A7BA7"/>
                </a:solidFill>
                <a:latin typeface="Consolas"/>
                <a:ea typeface="Consolas"/>
                <a:cs typeface="Consolas"/>
              </a:rPr>
              <a:t>S7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358247" y="3171349"/>
            <a:ext cx="8835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E6EDF5"/>
                </a:solidFill>
                <a:latin typeface="Consolas"/>
                <a:ea typeface="Consolas"/>
                <a:cs typeface="Consolas"/>
              </a:rPr>
              <a:t>svg_to_pptx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358247" y="3380899"/>
            <a:ext cx="9993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导出可编辑 pptx</a:t>
            </a:r>
          </a:p>
        </p:txBody>
      </p:sp>
      <p:sp>
        <p:nvSpPr>
          <p:cNvPr id="100" name="Line 100"/>
          <p:cNvSpPr/>
          <p:nvPr/>
        </p:nvSpPr>
        <p:spPr>
          <a:xfrm>
            <a:off x="5334000" y="37719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4FC9E8"/>
            </a:solidFill>
          </a:ln>
        </p:spPr>
      </p:sp>
      <p:sp>
        <p:nvSpPr>
          <p:cNvPr id="101" name="Line 101"/>
          <p:cNvSpPr/>
          <p:nvPr/>
        </p:nvSpPr>
        <p:spPr>
          <a:xfrm>
            <a:off x="10115550" y="37719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4FC9E8"/>
            </a:solidFill>
          </a:ln>
        </p:spPr>
      </p:sp>
      <p:sp>
        <p:nvSpPr>
          <p:cNvPr id="102" name="Line 102"/>
          <p:cNvSpPr/>
          <p:nvPr/>
        </p:nvSpPr>
        <p:spPr>
          <a:xfrm>
            <a:off x="5334000" y="3867150"/>
            <a:ext cx="4781550" cy="9525"/>
          </a:xfrm>
          <a:custGeom>
            <a:avLst/>
            <a:gdLst/>
            <a:ahLst/>
            <a:cxnLst/>
            <a:rect l="l" t="t" r="r" b="b"/>
            <a:pathLst>
              <a:path w="4781550" h="9525">
                <a:moveTo>
                  <a:pt x="0" y="0"/>
                </a:moveTo>
                <a:lnTo>
                  <a:pt x="4781550" y="0"/>
                </a:lnTo>
              </a:path>
            </a:pathLst>
          </a:custGeom>
          <a:noFill/>
          <a:ln w="9525">
            <a:solidFill>
              <a:srgbClr val="4FC9E8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6908955" y="3971449"/>
            <a:ext cx="163164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4FC9E8"/>
                </a:solidFill>
                <a:latin typeface="Consolas"/>
                <a:ea typeface="Microsoft YaHei"/>
                <a:cs typeface="Consolas"/>
              </a:rPr>
              <a:t>GATE x3 — 不靠肉眼判断</a:t>
            </a:r>
          </a:p>
        </p:txBody>
      </p:sp>
      <p:sp>
        <p:nvSpPr>
          <p:cNvPr id="104" name="Freeform 104"/>
          <p:cNvSpPr/>
          <p:nvPr/>
        </p:nvSpPr>
        <p:spPr>
          <a:xfrm>
            <a:off x="1428750" y="3638550"/>
            <a:ext cx="1381125" cy="990600"/>
          </a:xfrm>
          <a:custGeom>
            <a:avLst/>
            <a:gdLst/>
            <a:ahLst/>
            <a:cxnLst/>
            <a:rect l="l" t="t" r="r" b="b"/>
            <a:pathLst>
              <a:path w="1381125" h="990600">
                <a:moveTo>
                  <a:pt x="0" y="990600"/>
                </a:moveTo>
                <a:cubicBezTo>
                  <a:pt x="381000" y="800100"/>
                  <a:pt x="841375" y="469900"/>
                  <a:pt x="1381125" y="0"/>
                </a:cubicBezTo>
              </a:path>
            </a:pathLst>
          </a:custGeom>
          <a:noFill/>
          <a:ln w="13335">
            <a:solidFill>
              <a:srgbClr val="E8A54F"/>
            </a:solidFill>
          </a:ln>
        </p:spPr>
      </p:sp>
      <p:sp>
        <p:nvSpPr>
          <p:cNvPr id="105" name="Ellipse 105"/>
          <p:cNvSpPr/>
          <p:nvPr/>
        </p:nvSpPr>
        <p:spPr>
          <a:xfrm>
            <a:off x="2781300" y="3609975"/>
            <a:ext cx="57150" cy="57150"/>
          </a:xfrm>
          <a:prstGeom prst="ellipse">
            <a:avLst/>
          </a:prstGeom>
          <a:solidFill>
            <a:srgbClr val="E8A54F"/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660654" y="470916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A54F"/>
                </a:solidFill>
                <a:latin typeface="+mj-lt"/>
                <a:ea typeface="+mj-ea"/>
                <a:cs typeface="+mj-cs"/>
              </a:rPr>
              <a:t>生图不是装饰：按页意图出底图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76047" y="5228749"/>
            <a:ext cx="5329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Consolas"/>
                <a:ea typeface="Microsoft YaHei"/>
                <a:cs typeface="Consolas"/>
              </a:rPr>
              <a:t>证据 pages.json 18 页 · spec_lock.md · vendor svg_quality_checker.py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376047" y="5457349"/>
            <a:ext cx="31518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Consolas"/>
                <a:ea typeface="Microsoft YaHei"/>
                <a:cs typeface="Consolas"/>
              </a:rPr>
              <a:t>边界 本页为 spike 样张，只为审美裁决，不进管线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38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1143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1905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266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3429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419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4953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5715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647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7239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00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8763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9525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1028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11049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1181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381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5" name="Line 35"/>
          <p:cNvSpPr/>
          <p:nvPr/>
        </p:nvSpPr>
        <p:spPr>
          <a:xfrm>
            <a:off x="0" y="114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6" name="Line 36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7" name="Line 37"/>
          <p:cNvSpPr/>
          <p:nvPr/>
        </p:nvSpPr>
        <p:spPr>
          <a:xfrm>
            <a:off x="0" y="190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8" name="Line 38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9" name="Line 39"/>
          <p:cNvSpPr/>
          <p:nvPr/>
        </p:nvSpPr>
        <p:spPr>
          <a:xfrm>
            <a:off x="0" y="2667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0" name="Line 4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1" name="Line 41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2" name="Line 42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3" name="Line 43"/>
          <p:cNvSpPr/>
          <p:nvPr/>
        </p:nvSpPr>
        <p:spPr>
          <a:xfrm>
            <a:off x="0" y="4191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4" name="Line 44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5" name="Line 45"/>
          <p:cNvSpPr/>
          <p:nvPr/>
        </p:nvSpPr>
        <p:spPr>
          <a:xfrm>
            <a:off x="0" y="495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6" name="Line 4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7" name="Line 47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8" name="Line 48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9" name="Line 49"/>
          <p:cNvSpPr/>
          <p:nvPr/>
        </p:nvSpPr>
        <p:spPr>
          <a:xfrm>
            <a:off x="0" y="6477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50" name="Line 50"/>
          <p:cNvSpPr/>
          <p:nvPr/>
        </p:nvSpPr>
        <p:spPr>
          <a:xfrm>
            <a:off x="381000" y="8763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4A7BA7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76238" y="558641"/>
            <a:ext cx="21241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225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RUNHUA / PPT PIPELINE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69817" y="558641"/>
            <a:ext cx="445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spc="150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BK-A3</a:t>
            </a:r>
          </a:p>
        </p:txBody>
      </p:sp>
      <p:sp>
        <p:nvSpPr>
          <p:cNvPr id="53" name="Rectangle 53"/>
          <p:cNvSpPr/>
          <p:nvPr/>
        </p:nvSpPr>
        <p:spPr>
          <a:xfrm>
            <a:off x="9620250" y="5981700"/>
            <a:ext cx="2190750" cy="590550"/>
          </a:xfrm>
          <a:prstGeom prst="rect">
            <a:avLst/>
          </a:prstGeom>
          <a:solidFill>
            <a:srgbClr val="16283C"/>
          </a:solidFill>
          <a:ln w="9525">
            <a:solidFill>
              <a:srgbClr val="4A7BA7"/>
            </a:solidFill>
          </a:ln>
        </p:spPr>
      </p:sp>
      <p:sp>
        <p:nvSpPr>
          <p:cNvPr id="54" name="Line 54"/>
          <p:cNvSpPr/>
          <p:nvPr/>
        </p:nvSpPr>
        <p:spPr>
          <a:xfrm>
            <a:off x="9620250" y="6181725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7620">
            <a:solidFill>
              <a:srgbClr val="4A7BA7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729788" y="6045041"/>
            <a:ext cx="99525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TITLE BLOCK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729597" y="6257449"/>
            <a:ext cx="12170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机制页 · 图位与遮罩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729788" y="6426041"/>
            <a:ext cx="16708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16:9 · spike · 2026-10-08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1950" y="956310"/>
            <a:ext cx="456133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一页只用一个图位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73380" y="1552575"/>
            <a:ext cx="44778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铺底 + 面板同图 = 重影；门禁按 href 去重判死。</a:t>
            </a:r>
          </a:p>
        </p:txBody>
      </p:sp>
      <p:sp>
        <p:nvSpPr>
          <p:cNvPr id="60" name="Rectangle 60"/>
          <p:cNvSpPr/>
          <p:nvPr/>
        </p:nvSpPr>
        <p:spPr>
          <a:xfrm>
            <a:off x="419100" y="2038350"/>
            <a:ext cx="4476750" cy="2857500"/>
          </a:xfrm>
          <a:prstGeom prst="rect">
            <a:avLst/>
          </a:prstGeom>
          <a:solidFill>
            <a:srgbClr val="16283C"/>
          </a:solidFill>
          <a:ln w="13335">
            <a:solidFill>
              <a:srgbClr val="4FC9E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14338" y="1854041"/>
            <a:ext cx="81215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COMPLIANT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28625" y="2047875"/>
            <a:ext cx="4457700" cy="2838450"/>
          </a:xfrm>
          <a:prstGeom prst="rect">
            <a:avLst/>
          </a:prstGeom>
          <a:solidFill>
            <a:srgbClr val="4A7BA7">
              <a:alpha val="25000"/>
            </a:srgbClr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566547" y="2180749"/>
            <a:ext cx="17814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6EDF5"/>
                </a:solidFill>
                <a:latin typeface="Consolas"/>
                <a:ea typeface="Microsoft YaHei"/>
                <a:cs typeface="Consolas"/>
              </a:rPr>
              <a:t>&lt;image&gt; 单图位 100% 铺底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47700" y="3467100"/>
            <a:ext cx="4019550" cy="1143000"/>
          </a:xfrm>
          <a:prstGeom prst="rect">
            <a:avLst/>
          </a:prstGeom>
          <a:solidFill>
            <a:srgbClr val="0F1C2B">
              <a:alpha val="66000"/>
            </a:srgbClr>
          </a:solidFill>
          <a:ln w="9525">
            <a:solidFill>
              <a:srgbClr val="4A7BA7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95147" y="3647599"/>
            <a:ext cx="18365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E6EDF5"/>
                </a:solidFill>
                <a:latin typeface="Consolas"/>
                <a:ea typeface="Consolas"/>
                <a:cs typeface="Consolas"/>
              </a:rPr>
              <a:t>panel fill-opacity=0.66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94004" y="385191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底图透得出来 → 不是第二块板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334000" y="2038350"/>
            <a:ext cx="2381250" cy="1714500"/>
          </a:xfrm>
          <a:prstGeom prst="rect">
            <a:avLst/>
          </a:prstGeom>
          <a:solidFill>
            <a:srgbClr val="16283C"/>
          </a:solidFill>
          <a:ln w="13335">
            <a:solidFill>
              <a:srgbClr val="E8A54F"/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5524500" y="2228850"/>
            <a:ext cx="2000250" cy="1333500"/>
          </a:xfrm>
          <a:prstGeom prst="rect">
            <a:avLst/>
          </a:prstGeom>
          <a:solidFill>
            <a:srgbClr val="4A7BA7">
              <a:alpha val="30000"/>
            </a:srgbClr>
          </a:solidFill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5905500" y="2571750"/>
            <a:ext cx="1524000" cy="952500"/>
          </a:xfrm>
          <a:prstGeom prst="rect">
            <a:avLst/>
          </a:prstGeom>
          <a:solidFill>
            <a:srgbClr val="0F1C2B">
              <a:alpha val="60000"/>
            </a:srgbClr>
          </a:solidFill>
          <a:ln w="9525">
            <a:solidFill>
              <a:srgbClr val="E8A54F"/>
            </a:solidFill>
          </a:ln>
        </p:spPr>
      </p:sp>
      <p:sp>
        <p:nvSpPr>
          <p:cNvPr id="70" name="Freeform 70"/>
          <p:cNvSpPr/>
          <p:nvPr/>
        </p:nvSpPr>
        <p:spPr>
          <a:xfrm>
            <a:off x="6572250" y="28575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285750"/>
                </a:lnTo>
                <a:moveTo>
                  <a:pt x="285750" y="0"/>
                </a:moveTo>
                <a:lnTo>
                  <a:pt x="0" y="285750"/>
                </a:lnTo>
              </a:path>
            </a:pathLst>
          </a:custGeom>
          <a:solidFill>
            <a:srgbClr val="000000"/>
          </a:solidFill>
          <a:ln w="19050">
            <a:solidFill>
              <a:srgbClr val="E8A54F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5329238" y="1854041"/>
            <a:ext cx="537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E8A54F"/>
                </a:solidFill>
                <a:latin typeface="Consolas"/>
                <a:ea typeface="Consolas"/>
                <a:cs typeface="Consolas"/>
              </a:rPr>
              <a:t>BREACH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423154" y="3813810"/>
            <a:ext cx="22495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A54F"/>
                </a:solidFill>
                <a:latin typeface="+mj-lt"/>
                <a:ea typeface="+mj-ea"/>
                <a:cs typeface="+mj-cs"/>
              </a:rPr>
              <a:t>同一 href 出现两次 → blocking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996238" y="1854041"/>
            <a:ext cx="9037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SCRIM RAMP</a:t>
            </a:r>
          </a:p>
        </p:txBody>
      </p:sp>
      <p:sp>
        <p:nvSpPr>
          <p:cNvPr id="74" name="Rectangle 74"/>
          <p:cNvSpPr/>
          <p:nvPr/>
        </p:nvSpPr>
        <p:spPr>
          <a:xfrm>
            <a:off x="8001000" y="2219325"/>
            <a:ext cx="800100" cy="1247775"/>
          </a:xfrm>
          <a:prstGeom prst="rect">
            <a:avLst/>
          </a:prstGeom>
          <a:solidFill>
            <a:srgbClr val="E6EDF5">
              <a:alpha val="92000"/>
            </a:srgbClr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8034338" y="3568541"/>
            <a:ext cx="607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0.00→0.92</a:t>
            </a:r>
          </a:p>
        </p:txBody>
      </p:sp>
      <p:sp>
        <p:nvSpPr>
          <p:cNvPr id="76" name="Rectangle 76"/>
          <p:cNvSpPr/>
          <p:nvPr/>
        </p:nvSpPr>
        <p:spPr>
          <a:xfrm>
            <a:off x="8915400" y="2343150"/>
            <a:ext cx="800100" cy="1123950"/>
          </a:xfrm>
          <a:prstGeom prst="rect">
            <a:avLst/>
          </a:prstGeom>
          <a:solidFill>
            <a:srgbClr val="E6EDF5">
              <a:alpha val="80000"/>
            </a:srgbClr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8948738" y="3568541"/>
            <a:ext cx="607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0.45→0.80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829800" y="2867025"/>
            <a:ext cx="800100" cy="600075"/>
          </a:xfrm>
          <a:prstGeom prst="rect">
            <a:avLst/>
          </a:prstGeom>
          <a:solidFill>
            <a:srgbClr val="E6EDF5">
              <a:alpha val="30000"/>
            </a:srgbClr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863138" y="3568541"/>
            <a:ext cx="607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0.62→0.30</a:t>
            </a:r>
          </a:p>
        </p:txBody>
      </p:sp>
      <p:sp>
        <p:nvSpPr>
          <p:cNvPr id="80" name="Rectangle 80"/>
          <p:cNvSpPr/>
          <p:nvPr/>
        </p:nvSpPr>
        <p:spPr>
          <a:xfrm>
            <a:off x="10744200" y="3143250"/>
            <a:ext cx="800100" cy="323850"/>
          </a:xfrm>
          <a:prstGeom prst="rect">
            <a:avLst/>
          </a:prstGeom>
          <a:solidFill>
            <a:srgbClr val="E6EDF5">
              <a:alpha val="4000"/>
            </a:srgbClr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10777538" y="3568541"/>
            <a:ext cx="607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1.00→0.04</a:t>
            </a:r>
          </a:p>
        </p:txBody>
      </p:sp>
      <p:sp>
        <p:nvSpPr>
          <p:cNvPr id="82" name="Line 82"/>
          <p:cNvSpPr/>
          <p:nvPr/>
        </p:nvSpPr>
        <p:spPr>
          <a:xfrm>
            <a:off x="8001000" y="3467100"/>
            <a:ext cx="3543300" cy="9525"/>
          </a:xfrm>
          <a:custGeom>
            <a:avLst/>
            <a:gdLst/>
            <a:ahLst/>
            <a:cxnLst/>
            <a:rect l="l" t="t" r="r" b="b"/>
            <a:pathLst>
              <a:path w="3543300" h="9525">
                <a:moveTo>
                  <a:pt x="0" y="0"/>
                </a:moveTo>
                <a:lnTo>
                  <a:pt x="3543300" y="0"/>
                </a:lnTo>
              </a:path>
            </a:pathLst>
          </a:custGeom>
          <a:noFill/>
          <a:ln w="9525">
            <a:solidFill>
              <a:srgbClr val="4A7BA7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7994904" y="3775710"/>
            <a:ext cx="19749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文字侧压住 · 空侧几乎不遮</a:t>
            </a:r>
          </a:p>
        </p:txBody>
      </p:sp>
      <p:sp>
        <p:nvSpPr>
          <p:cNvPr id="84" name="Line 84"/>
          <p:cNvSpPr/>
          <p:nvPr/>
        </p:nvSpPr>
        <p:spPr>
          <a:xfrm>
            <a:off x="419100" y="5162550"/>
            <a:ext cx="9163050" cy="9525"/>
          </a:xfrm>
          <a:custGeom>
            <a:avLst/>
            <a:gdLst/>
            <a:ahLst/>
            <a:cxnLst/>
            <a:rect l="l" t="t" r="r" b="b"/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/>
          <a:ln w="5715">
            <a:solidFill>
              <a:srgbClr val="4A7BA7">
                <a:alpha val="50000"/>
              </a:srgbClr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414147" y="5266849"/>
            <a:ext cx="4473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spc="75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scrim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422654" y="52425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方向性渐变，别整幅糊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710047" y="5266849"/>
            <a:ext cx="31073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0→0.92 / 0.45→0.80 / 0.62→0.30 / 1→0.04</a:t>
            </a:r>
          </a:p>
        </p:txBody>
      </p:sp>
      <p:sp>
        <p:nvSpPr>
          <p:cNvPr id="88" name="Line 88"/>
          <p:cNvSpPr/>
          <p:nvPr/>
        </p:nvSpPr>
        <p:spPr>
          <a:xfrm>
            <a:off x="419100" y="5543550"/>
            <a:ext cx="9163050" cy="9525"/>
          </a:xfrm>
          <a:custGeom>
            <a:avLst/>
            <a:gdLst/>
            <a:ahLst/>
            <a:cxnLst/>
            <a:rect l="l" t="t" r="r" b="b"/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/>
          <a:ln w="5715">
            <a:solidFill>
              <a:srgbClr val="4A7BA7">
                <a:alpha val="50000"/>
              </a:srgbClr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414147" y="5647849"/>
            <a:ext cx="4473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spc="75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panel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422654" y="56235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卡片让底图透出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5710047" y="5647849"/>
            <a:ext cx="15188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fill-opacity="0.66"</a:t>
            </a:r>
          </a:p>
        </p:txBody>
      </p:sp>
      <p:sp>
        <p:nvSpPr>
          <p:cNvPr id="92" name="Line 92"/>
          <p:cNvSpPr/>
          <p:nvPr/>
        </p:nvSpPr>
        <p:spPr>
          <a:xfrm>
            <a:off x="419100" y="5924550"/>
            <a:ext cx="9163050" cy="9525"/>
          </a:xfrm>
          <a:custGeom>
            <a:avLst/>
            <a:gdLst/>
            <a:ahLst/>
            <a:cxnLst/>
            <a:rect l="l" t="t" r="r" b="b"/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/>
          <a:ln w="5715">
            <a:solidFill>
              <a:srgbClr val="4A7BA7">
                <a:alpha val="50000"/>
              </a:srgbClr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414147" y="6028849"/>
            <a:ext cx="3578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spc="75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clip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422654" y="6004560"/>
            <a:ext cx="16034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clip-path 挂 &lt;image&gt;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10047" y="6028849"/>
            <a:ext cx="19402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Consolas"/>
                <a:ea typeface="Microsoft YaHei"/>
                <a:cs typeface="Consolas"/>
              </a:rPr>
              <a:t>挂外层 &lt;g&gt; → 门禁 blocking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38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1143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1905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266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3429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419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4953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5715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647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7239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00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8763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9525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1028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11049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1181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381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5" name="Line 35"/>
          <p:cNvSpPr/>
          <p:nvPr/>
        </p:nvSpPr>
        <p:spPr>
          <a:xfrm>
            <a:off x="0" y="114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6" name="Line 36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7" name="Line 37"/>
          <p:cNvSpPr/>
          <p:nvPr/>
        </p:nvSpPr>
        <p:spPr>
          <a:xfrm>
            <a:off x="0" y="190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8" name="Line 38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39" name="Line 39"/>
          <p:cNvSpPr/>
          <p:nvPr/>
        </p:nvSpPr>
        <p:spPr>
          <a:xfrm>
            <a:off x="0" y="2667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0" name="Line 4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1" name="Line 41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2" name="Line 42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3" name="Line 43"/>
          <p:cNvSpPr/>
          <p:nvPr/>
        </p:nvSpPr>
        <p:spPr>
          <a:xfrm>
            <a:off x="0" y="4191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4" name="Line 44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5" name="Line 45"/>
          <p:cNvSpPr/>
          <p:nvPr/>
        </p:nvSpPr>
        <p:spPr>
          <a:xfrm>
            <a:off x="0" y="495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6" name="Line 4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7" name="Line 47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8" name="Line 48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49" name="Line 49"/>
          <p:cNvSpPr/>
          <p:nvPr/>
        </p:nvSpPr>
        <p:spPr>
          <a:xfrm>
            <a:off x="0" y="6477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4A7BA7">
                <a:alpha val="16000"/>
              </a:srgbClr>
            </a:solidFill>
          </a:ln>
        </p:spPr>
      </p:sp>
      <p:sp>
        <p:nvSpPr>
          <p:cNvPr id="50" name="Line 50"/>
          <p:cNvSpPr/>
          <p:nvPr/>
        </p:nvSpPr>
        <p:spPr>
          <a:xfrm>
            <a:off x="381000" y="8763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4A7BA7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76238" y="558641"/>
            <a:ext cx="21241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225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RUNHUA / PPT PIPELINE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69817" y="558641"/>
            <a:ext cx="445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spc="150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BK-A2</a:t>
            </a:r>
          </a:p>
        </p:txBody>
      </p:sp>
      <p:sp>
        <p:nvSpPr>
          <p:cNvPr id="53" name="Rectangle 53"/>
          <p:cNvSpPr/>
          <p:nvPr/>
        </p:nvSpPr>
        <p:spPr>
          <a:xfrm>
            <a:off x="9620250" y="5981700"/>
            <a:ext cx="2190750" cy="590550"/>
          </a:xfrm>
          <a:prstGeom prst="rect">
            <a:avLst/>
          </a:prstGeom>
          <a:solidFill>
            <a:srgbClr val="16283C"/>
          </a:solidFill>
          <a:ln w="9525">
            <a:solidFill>
              <a:srgbClr val="4A7BA7"/>
            </a:solidFill>
          </a:ln>
        </p:spPr>
      </p:sp>
      <p:sp>
        <p:nvSpPr>
          <p:cNvPr id="54" name="Line 54"/>
          <p:cNvSpPr/>
          <p:nvPr/>
        </p:nvSpPr>
        <p:spPr>
          <a:xfrm>
            <a:off x="9620250" y="6181725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7620">
            <a:solidFill>
              <a:srgbClr val="4A7BA7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729788" y="6045041"/>
            <a:ext cx="99525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TITLE BLOCK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729597" y="6257449"/>
            <a:ext cx="12170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数据页 · 门禁参考卡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729788" y="6426041"/>
            <a:ext cx="16708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A9C0D8"/>
                </a:solidFill>
                <a:latin typeface="Consolas"/>
                <a:ea typeface="Consolas"/>
                <a:cs typeface="Consolas"/>
              </a:rPr>
              <a:t>16:9 · spike · 2026-10-08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4236" y="1072515"/>
            <a:ext cx="580872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八道门禁，每条都能机器判定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74904" y="1604010"/>
            <a:ext cx="40750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任一不过 → 不出片。判据写在锁里，不写在人的经验里。</a:t>
            </a:r>
          </a:p>
        </p:txBody>
      </p:sp>
      <p:sp>
        <p:nvSpPr>
          <p:cNvPr id="60" name="Rectangle 60"/>
          <p:cNvSpPr/>
          <p:nvPr/>
        </p:nvSpPr>
        <p:spPr>
          <a:xfrm>
            <a:off x="419100" y="2038350"/>
            <a:ext cx="8763000" cy="285750"/>
          </a:xfrm>
          <a:prstGeom prst="rect">
            <a:avLst/>
          </a:prstGeom>
          <a:solidFill>
            <a:srgbClr val="16283C"/>
          </a:solidFill>
          <a:ln w="9525">
            <a:solidFill>
              <a:srgbClr val="4A7BA7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528447" y="2123599"/>
            <a:ext cx="2838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75" dirty="0">
                <a:solidFill>
                  <a:srgbClr val="4FC9E8"/>
                </a:solidFill>
                <a:latin typeface="Consolas"/>
                <a:ea typeface="Microsoft YaHei"/>
                <a:cs typeface="Consolas"/>
              </a:rPr>
              <a:t>代号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576197" y="2123599"/>
            <a:ext cx="2838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75" dirty="0">
                <a:solidFill>
                  <a:srgbClr val="4FC9E8"/>
                </a:solidFill>
                <a:latin typeface="Consolas"/>
                <a:ea typeface="Microsoft YaHei"/>
                <a:cs typeface="Consolas"/>
              </a:rPr>
              <a:t>判据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052947" y="2123599"/>
            <a:ext cx="8353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75" dirty="0">
                <a:solidFill>
                  <a:srgbClr val="4FC9E8"/>
                </a:solidFill>
                <a:latin typeface="Consolas"/>
                <a:ea typeface="Microsoft YaHei"/>
                <a:cs typeface="Consolas"/>
              </a:rPr>
              <a:t>阈值 / 算法</a:t>
            </a:r>
          </a:p>
        </p:txBody>
      </p:sp>
      <p:sp>
        <p:nvSpPr>
          <p:cNvPr id="64" name="Line 64"/>
          <p:cNvSpPr/>
          <p:nvPr/>
        </p:nvSpPr>
        <p:spPr>
          <a:xfrm>
            <a:off x="419100" y="2762250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5715">
            <a:solidFill>
              <a:srgbClr val="4A7BA7">
                <a:alpha val="70000"/>
              </a:srgbClr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527304" y="24707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字号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575054" y="2470785"/>
            <a:ext cx="264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所有文本字号落在 spec_lock 九档内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052947" y="2495074"/>
            <a:ext cx="24450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FC9E8"/>
                </a:solidFill>
                <a:latin typeface="Consolas"/>
                <a:ea typeface="Microsoft YaHei"/>
                <a:cs typeface="Consolas"/>
              </a:rPr>
              <a:t>9 档 11/13/16/20/24/32/44/56/96</a:t>
            </a:r>
          </a:p>
        </p:txBody>
      </p:sp>
      <p:sp>
        <p:nvSpPr>
          <p:cNvPr id="68" name="Line 68"/>
          <p:cNvSpPr/>
          <p:nvPr/>
        </p:nvSpPr>
        <p:spPr>
          <a:xfrm>
            <a:off x="419100" y="3200400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5715">
            <a:solidFill>
              <a:srgbClr val="4A7BA7">
                <a:alpha val="70000"/>
              </a:srgbClr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527304" y="29089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底图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575054" y="2908935"/>
            <a:ext cx="20234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最大 image 面积 / 画布面积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052947" y="2933224"/>
            <a:ext cx="4070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≥ 90%</a:t>
            </a:r>
          </a:p>
        </p:txBody>
      </p:sp>
      <p:sp>
        <p:nvSpPr>
          <p:cNvPr id="72" name="Line 72"/>
          <p:cNvSpPr/>
          <p:nvPr/>
        </p:nvSpPr>
        <p:spPr>
          <a:xfrm>
            <a:off x="419100" y="3638550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5715">
            <a:solidFill>
              <a:srgbClr val="4A7BA7">
                <a:alpha val="70000"/>
              </a:srgbClr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527304" y="33470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重影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575054" y="334708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同一源图不在一页出现两次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052947" y="3371374"/>
            <a:ext cx="15431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FC9E8"/>
                </a:solidFill>
                <a:latin typeface="Consolas"/>
                <a:ea typeface="Microsoft YaHei"/>
                <a:cs typeface="Consolas"/>
              </a:rPr>
              <a:t>href 去重 = 每页 1 次</a:t>
            </a:r>
          </a:p>
        </p:txBody>
      </p:sp>
      <p:sp>
        <p:nvSpPr>
          <p:cNvPr id="76" name="Line 76"/>
          <p:cNvSpPr/>
          <p:nvPr/>
        </p:nvSpPr>
        <p:spPr>
          <a:xfrm>
            <a:off x="419100" y="4076700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5715">
            <a:solidFill>
              <a:srgbClr val="4A7BA7">
                <a:alpha val="70000"/>
              </a:srgbClr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527304" y="37852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溢出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575054" y="37852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文本不超出画布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052947" y="3809524"/>
            <a:ext cx="15700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FC9E8"/>
                </a:solidFill>
                <a:latin typeface="Consolas"/>
                <a:ea typeface="Microsoft YaHei"/>
                <a:cs typeface="Consolas"/>
              </a:rPr>
              <a:t>按 text-anchor 算边界</a:t>
            </a:r>
          </a:p>
        </p:txBody>
      </p:sp>
      <p:sp>
        <p:nvSpPr>
          <p:cNvPr id="80" name="Line 80"/>
          <p:cNvSpPr/>
          <p:nvPr/>
        </p:nvSpPr>
        <p:spPr>
          <a:xfrm>
            <a:off x="419100" y="4514850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5715">
            <a:solidFill>
              <a:srgbClr val="4A7BA7">
                <a:alpha val="70000"/>
              </a:srgbClr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527304" y="42233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压行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575054" y="42233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相邻文本行不碰撞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052947" y="4247674"/>
            <a:ext cx="8552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FC9E8"/>
                </a:solidFill>
                <a:latin typeface="Consolas"/>
                <a:ea typeface="Microsoft YaHei"/>
                <a:cs typeface="Consolas"/>
              </a:rPr>
              <a:t>行盒交集 = 0</a:t>
            </a:r>
          </a:p>
        </p:txBody>
      </p:sp>
      <p:sp>
        <p:nvSpPr>
          <p:cNvPr id="84" name="Line 84"/>
          <p:cNvSpPr/>
          <p:nvPr/>
        </p:nvSpPr>
        <p:spPr>
          <a:xfrm>
            <a:off x="419100" y="4953000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5715">
            <a:solidFill>
              <a:srgbClr val="4A7BA7">
                <a:alpha val="70000"/>
              </a:srgbClr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527304" y="46615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面板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575054" y="46615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面板区域墨量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052947" y="4685824"/>
            <a:ext cx="3275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FC9E8"/>
                </a:solidFill>
                <a:latin typeface="Consolas"/>
                <a:ea typeface="Consolas"/>
                <a:cs typeface="Consolas"/>
              </a:rPr>
              <a:t>≥ 6%</a:t>
            </a:r>
          </a:p>
        </p:txBody>
      </p:sp>
      <p:sp>
        <p:nvSpPr>
          <p:cNvPr id="88" name="Line 88"/>
          <p:cNvSpPr/>
          <p:nvPr/>
        </p:nvSpPr>
        <p:spPr>
          <a:xfrm>
            <a:off x="419100" y="5391150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5715">
            <a:solidFill>
              <a:srgbClr val="4A7BA7">
                <a:alpha val="70000"/>
              </a:srgbClr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527304" y="5099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对比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575054" y="5099685"/>
            <a:ext cx="12807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WCAG 文本对比度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052947" y="5123974"/>
            <a:ext cx="18070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FC9E8"/>
                </a:solidFill>
                <a:latin typeface="Consolas"/>
                <a:ea typeface="Microsoft YaHei"/>
                <a:cs typeface="Consolas"/>
              </a:rPr>
              <a:t>≥ 4.5:1（底色取 20 分位）</a:t>
            </a:r>
          </a:p>
        </p:txBody>
      </p:sp>
      <p:sp>
        <p:nvSpPr>
          <p:cNvPr id="92" name="Line 92"/>
          <p:cNvSpPr/>
          <p:nvPr/>
        </p:nvSpPr>
        <p:spPr>
          <a:xfrm>
            <a:off x="419100" y="5829300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5715">
            <a:solidFill>
              <a:srgbClr val="4A7BA7">
                <a:alpha val="70000"/>
              </a:srgbClr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527304" y="55378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EDF5"/>
                </a:solidFill>
                <a:latin typeface="+mj-lt"/>
                <a:ea typeface="+mj-ea"/>
                <a:cs typeface="+mj-cs"/>
              </a:rPr>
              <a:t>标题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575054" y="5537835"/>
            <a:ext cx="13933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9C0D8"/>
                </a:solidFill>
                <a:latin typeface="+mj-lt"/>
                <a:ea typeface="+mj-ea"/>
                <a:cs typeface="+mj-cs"/>
              </a:rPr>
              <a:t>每页根节点带 title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052947" y="5562124"/>
            <a:ext cx="22984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FC9E8"/>
                </a:solidFill>
                <a:latin typeface="Consolas"/>
                <a:ea typeface="Microsoft YaHei"/>
                <a:cs typeface="Consolas"/>
              </a:rPr>
              <a:t>&lt;title&gt; 存在（18 条 WARN → 0）</a:t>
            </a:r>
          </a:p>
        </p:txBody>
      </p:sp>
      <p:sp>
        <p:nvSpPr>
          <p:cNvPr id="96" name="Line 96"/>
          <p:cNvSpPr/>
          <p:nvPr/>
        </p:nvSpPr>
        <p:spPr>
          <a:xfrm>
            <a:off x="1466850" y="203835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5715">
            <a:solidFill>
              <a:srgbClr val="4A7BA7">
                <a:alpha val="70000"/>
              </a:srgbClr>
            </a:solidFill>
          </a:ln>
        </p:spPr>
      </p:sp>
      <p:sp>
        <p:nvSpPr>
          <p:cNvPr id="97" name="Line 97"/>
          <p:cNvSpPr/>
          <p:nvPr/>
        </p:nvSpPr>
        <p:spPr>
          <a:xfrm>
            <a:off x="5943600" y="203835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5715">
            <a:solidFill>
              <a:srgbClr val="4A7BA7">
                <a:alpha val="70000"/>
              </a:srgbClr>
            </a:solidFill>
          </a:ln>
        </p:spPr>
      </p:sp>
      <p:sp>
        <p:nvSpPr>
          <p:cNvPr id="98" name="Line 98"/>
          <p:cNvSpPr/>
          <p:nvPr/>
        </p:nvSpPr>
        <p:spPr>
          <a:xfrm>
            <a:off x="419100" y="5829300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9525">
            <a:solidFill>
              <a:srgbClr val="4A7BA7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414147" y="5971699"/>
            <a:ext cx="537962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9C0D8"/>
                </a:solidFill>
                <a:latin typeface="Consolas"/>
                <a:ea typeface="Microsoft YaHei"/>
                <a:cs typeface="Consolas"/>
              </a:rPr>
              <a:t>来源 workflow_full/spec_lock.md · typography 九档收紧记录（2026-09-23）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14147" y="6181249"/>
            <a:ext cx="49486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8A54F"/>
                </a:solidFill>
                <a:latin typeface="+mj-lt"/>
                <a:ea typeface="+mj-ea"/>
                <a:cs typeface="+mj-cs"/>
              </a:rPr>
              <a:t>注意 「对比」一项在亮底上会把 #94A3B8（2.56:1）自动换成 #475569（6.99:1）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jA">
  <a:themeElements>
    <a:clrScheme name="projA">
      <a:dk1>
        <a:srgbClr val="000000"/>
      </a:dk1>
      <a:lt1>
        <a:srgbClr val="08090C"/>
      </a:lt1>
      <a:dk2>
        <a:srgbClr val="1F497D"/>
      </a:dk2>
      <a:lt2>
        <a:srgbClr val="08090C"/>
      </a:lt2>
      <a:accent1>
        <a:srgbClr val="6E7BFF"/>
      </a:accent1>
      <a:accent2>
        <a:srgbClr val="6E7BFF"/>
      </a:accent2>
      <a:accent3>
        <a:srgbClr val="6E7BFF"/>
      </a:accent3>
      <a:accent4>
        <a:srgbClr val="8064A2"/>
      </a:accent4>
      <a:accent5>
        <a:srgbClr val="12131A"/>
      </a:accent5>
      <a:accent6>
        <a:srgbClr val="23242E"/>
      </a:accent6>
      <a:hlink>
        <a:srgbClr val="6E7BFF"/>
      </a:hlink>
      <a:folHlink>
        <a:srgbClr val="6E7BFF"/>
      </a:folHlink>
    </a:clrScheme>
    <a:fontScheme name="projA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2026-10-08T07:45:00Z</dcterms:created>
  <dcterms:modified xsi:type="dcterms:W3CDTF">2026-10-08T07:45:00Z</dcterms:modified>
  <cp:category/>
  <cp:contentStatus/>
</cp:coreProperties>
</file>