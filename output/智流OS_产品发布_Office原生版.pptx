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自主协同 · 混合执行 · 零摩擦落地</a:t>
            </a:r>
          </a:p>
          <a:p>
            <a:pPr algn="ctr">
              <a:spcBef>
                <a:spcPts val="1800"/>
              </a:spcBef>
              <a:defRPr sz="4400" b="1">
                <a:solidFill>
                  <a:srgbClr val="F1F5F9"/>
                </a:solidFill>
              </a:defRPr>
            </a:pPr>
            <a:r>
              <a:t>智流 OS (AgentFlow OS)</a:t>
            </a:r>
          </a:p>
          <a:p>
            <a:pPr algn="ctr">
              <a:spcBef>
                <a:spcPts val="1600"/>
              </a:spcBef>
              <a:defRPr sz="2000">
                <a:solidFill>
                  <a:srgbClr val="94A3B8"/>
                </a:solidFill>
              </a:defRPr>
            </a:pPr>
            <a:r>
              <a:t>连接大模型与现实业务的下一代自主智能体协作引擎</a:t>
            </a:r>
          </a:p>
          <a:p>
            <a:pPr algn="ctr">
              <a:spcBef>
                <a:spcPts val="3600"/>
              </a:spcBef>
              <a:defRPr sz="1200">
                <a:solidFill>
                  <a:srgbClr val="64748B"/>
                </a:solidFill>
              </a:defRPr>
            </a:pPr>
            <a:r>
              <a:t>产品研发团队 · 2026 战略发布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传统自动化 vs 智能体协作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7171"/>
                </a:solidFill>
              </a:defRPr>
            </a:pPr>
            <a:r>
              <a:t>⚠️ 传统自动化痛点</a:t>
            </a:r>
          </a:p>
          <a:p>
            <a:pPr>
              <a:spcBef>
                <a:spcPts val="1800"/>
              </a:spcBef>
              <a:defRPr sz="1400">
                <a:solidFill>
                  <a:srgbClr val="F1F5F9"/>
                </a:solidFill>
              </a:defRPr>
            </a:pPr>
            <a:r>
              <a:t>• 静态流程极度脆弱，异常分支维护成本呈指数级上升</a:t>
            </a:r>
          </a:p>
          <a:p>
            <a:pPr>
              <a:spcBef>
                <a:spcPts val="1800"/>
              </a:spcBef>
              <a:defRPr sz="1400">
                <a:solidFill>
                  <a:srgbClr val="F1F5F9"/>
                </a:solidFill>
              </a:defRPr>
            </a:pPr>
            <a:r>
              <a:t>• 跨工具孤岛严重，API、数据库与私有协议长期割裂</a:t>
            </a:r>
          </a:p>
          <a:p>
            <a:pPr>
              <a:spcBef>
                <a:spcPts val="1800"/>
              </a:spcBef>
              <a:defRPr sz="1400">
                <a:solidFill>
                  <a:srgbClr val="F1F5F9"/>
                </a:solidFill>
              </a:defRPr>
            </a:pPr>
            <a:r>
              <a:t>• 人机交互僵化，缺乏长程会话上下文与环境自适应能力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493776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🟢 智流 OS 协同解法</a:t>
            </a:r>
          </a:p>
          <a:p>
            <a:pPr>
              <a:spcBef>
                <a:spcPts val="1800"/>
              </a:spcBef>
              <a:defRPr sz="1400">
                <a:solidFill>
                  <a:srgbClr val="F1F5F9"/>
                </a:solidFill>
              </a:defRPr>
            </a:pPr>
            <a:r>
              <a:t>• 意图驱动自愈流水线，动态降级、反思与自适应纠错</a:t>
            </a:r>
          </a:p>
          <a:p>
            <a:pPr>
              <a:spcBef>
                <a:spcPts val="1800"/>
              </a:spcBef>
              <a:defRPr sz="1400">
                <a:solidFill>
                  <a:srgbClr val="F1F5F9"/>
                </a:solidFill>
              </a:defRPr>
            </a:pPr>
            <a:r>
              <a:t>• 统一语义总线，原生深度融合 MCP、CLI 与本地文件资产</a:t>
            </a:r>
          </a:p>
          <a:p>
            <a:pPr>
              <a:spcBef>
                <a:spcPts val="1800"/>
              </a:spcBef>
              <a:defRPr sz="1400">
                <a:solidFill>
                  <a:srgbClr val="F1F5F9"/>
                </a:solidFill>
              </a:defRPr>
            </a:pPr>
            <a:r>
              <a:t>• 分层长期记忆网络，千次交互始终保持契约与人格一致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系统技术架构：三层协同体系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01 / SCHEDULING</a:t>
            </a:r>
          </a:p>
          <a:p>
            <a:pPr>
              <a:spcBef>
                <a:spcPts val="800"/>
              </a:spcBef>
              <a:defRPr sz="1800" b="1">
                <a:solidFill>
                  <a:srgbClr val="F1F5F9"/>
                </a:solidFill>
              </a:defRPr>
            </a:pPr>
            <a:r>
              <a:t>感知与调度层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多模型动态评级与智能路由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提示词动态提纯与契约校准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任务 DAG 自动拆解与并行派发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20040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02 / RUNTIME</a:t>
            </a:r>
          </a:p>
          <a:p>
            <a:pPr>
              <a:spcBef>
                <a:spcPts val="800"/>
              </a:spcBef>
              <a:defRPr sz="1800" b="1">
                <a:solidFill>
                  <a:srgbClr val="F1F5F9"/>
                </a:solidFill>
              </a:defRPr>
            </a:pPr>
            <a:r>
              <a:t>执行与安全层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双沙箱隔离物理执行环境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细粒度操作权限守卫与主动拦截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物理操作全生命周期审计与快照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0040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03 / CONTEXT</a:t>
            </a:r>
          </a:p>
          <a:p>
            <a:pPr>
              <a:spcBef>
                <a:spcPts val="800"/>
              </a:spcBef>
              <a:defRPr sz="1800" b="1">
                <a:solidFill>
                  <a:srgbClr val="F1F5F9"/>
                </a:solidFill>
              </a:defRPr>
            </a:pPr>
            <a:r>
              <a:t>数据与持久层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三层记忆体系（瞬时/项目/长期）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向量语义索引 + 符号精准检索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敏感信息自动脱敏与加密驻留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试点业务真实落地表现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37744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98.6%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F1F5F9"/>
                </a:solidFill>
              </a:defRPr>
            </a:pPr>
            <a:r>
              <a:t>多步任务交付率</a:t>
            </a:r>
          </a:p>
          <a:p>
            <a:pPr algn="ctr">
              <a:spcBef>
                <a:spcPts val="800"/>
              </a:spcBef>
              <a:defRPr sz="1100">
                <a:solidFill>
                  <a:srgbClr val="34D399"/>
                </a:solidFill>
              </a:defRPr>
            </a:pPr>
            <a:r>
              <a:t>↑ 环比提升 34%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103120"/>
            <a:ext cx="237744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818CF8"/>
                </a:solidFill>
              </a:defRPr>
            </a:pPr>
            <a:r>
              <a:t>120ms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F1F5F9"/>
                </a:solidFill>
              </a:defRPr>
            </a:pPr>
            <a:r>
              <a:t>高频决策推理时延</a:t>
            </a:r>
          </a:p>
          <a:p>
            <a:pPr algn="ctr">
              <a:spcBef>
                <a:spcPts val="800"/>
              </a:spcBef>
              <a:defRPr sz="1100">
                <a:solidFill>
                  <a:srgbClr val="34D399"/>
                </a:solidFill>
              </a:defRPr>
            </a:pPr>
            <a:r>
              <a:t>↓ 整体优化 65%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237744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C084FC"/>
                </a:solidFill>
              </a:defRPr>
            </a:pPr>
            <a:r>
              <a:t>15,000+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F1F5F9"/>
                </a:solidFill>
              </a:defRPr>
            </a:pPr>
            <a:r>
              <a:t>日调度任务吞吐量</a:t>
            </a:r>
          </a:p>
          <a:p>
            <a:pPr algn="ctr">
              <a:spcBef>
                <a:spcPts val="800"/>
              </a:spcBef>
              <a:defRPr sz="1100">
                <a:solidFill>
                  <a:srgbClr val="34D399"/>
                </a:solidFill>
              </a:defRPr>
            </a:pPr>
            <a:r>
              <a:t>高可靠 0 崩溃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103120"/>
            <a:ext cx="237744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4D399"/>
                </a:solidFill>
              </a:defRPr>
            </a:pPr>
            <a:r>
              <a:t>4.2x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F1F5F9"/>
                </a:solidFill>
              </a:defRPr>
            </a:pPr>
            <a:r>
              <a:t>跨部门人效倍增比</a:t>
            </a:r>
          </a:p>
          <a:p>
            <a:pPr algn="ctr">
              <a:spcBef>
                <a:spcPts val="800"/>
              </a:spcBef>
              <a:defRPr sz="1100">
                <a:solidFill>
                  <a:srgbClr val="34D399"/>
                </a:solidFill>
              </a:defRPr>
            </a:pPr>
            <a:r>
              <a:t>行业标杆级突破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2026 演进路线图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1F5F9"/>
                </a:solidFill>
              </a:defRPr>
            </a:pPr>
            <a:r>
              <a:t>[Q1 - Q2]  协议基座与标准建设 —— 全面覆盖 100+ 工业级生产工具与生态标准化 MCP 接入，统一接口契约。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10362895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1F5F9"/>
                </a:solidFill>
              </a:defRPr>
            </a:pPr>
            <a:r>
              <a:t>[Q3 阶段]  多智能体自主协商总线 —— 支持万人规模企业跨业务域复杂协同、任务级自主分工与操作权责追溯。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10362895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1F5F9"/>
                </a:solidFill>
              </a:defRPr>
            </a:pPr>
            <a:r>
              <a:t>[Q4 阶段]  端侧小模型蒸馏与脱敏 —— 实现 100% 离线隐私计算、端侧自愈与轻量化边缘节点高效部署。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