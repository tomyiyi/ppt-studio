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开场（20 秒）</a:t>
            </a:r>
          </a:p>
          <a:p>
            <a:pPr/>
            <a:endParaRPr lang="zh-CN" dirty="0"/>
          </a:p>
          <a:p>
            <a:pPr/>
            <a:r>
              <a:rPr lang="zh-CN" dirty="0"/>
              <a:t>• 只说一句话：智流 OS 不是更大的模型，是能真正动手的运行时。</a:t>
            </a:r>
          </a:p>
          <a:p>
            <a:pPr/>
            <a:r>
              <a:rPr lang="zh-CN" dirty="0"/>
              <a:t>• 不要在这页讲架构，留到后面。</a:t>
            </a:r>
          </a:p>
          <a:p>
            <a:pPr/>
            <a:r>
              <a:rPr lang="zh-CN" dirty="0"/>
              <a:t>• 停顿点：说完"能真正动手的运行时"停两秒再翻页。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抛出张力（40 秒）</a:t>
            </a:r>
          </a:p>
          <a:p>
            <a:pPr/>
            <a:endParaRPr lang="zh-CN" dirty="0"/>
          </a:p>
          <a:p>
            <a:pPr/>
            <a:r>
              <a:rPr lang="zh-CN" dirty="0"/>
              <a:t>• 这一页的目的是让听众点头，不是让他们记数字。</a:t>
            </a:r>
          </a:p>
          <a:p>
            <a:pPr/>
            <a:r>
              <a:rPr lang="zh-CN" dirty="0"/>
              <a:t>• 念那个场景时要具体："凌晨两点，第三次跑批失败" —— 说慢一点。</a:t>
            </a:r>
          </a:p>
          <a:p>
            <a:pPr/>
            <a:r>
              <a:rPr lang="zh-CN" dirty="0"/>
              <a:t>• 三个数字只讲一个就够，推荐讲 3.4x（分支翻倍维护成本的增幅），最能引出后面的解法。</a:t>
            </a:r>
          </a:p>
          <a:p>
            <a:pPr/>
            <a:r>
              <a:rPr lang="zh-CN" dirty="0"/>
              <a:t>• 不要解释数字来源，被追问时再说"试点统计，稍后有口径页"。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定位主张（30 秒）</a:t>
            </a:r>
          </a:p>
          <a:p>
            <a:pPr/>
            <a:endParaRPr lang="zh-CN" dirty="0"/>
          </a:p>
          <a:p>
            <a:pPr/>
            <a:r>
              <a:rPr lang="zh-CN" dirty="0"/>
              <a:t>• 这是全场唯一需要背下来的一页，建议逐字说。</a:t>
            </a:r>
          </a:p>
          <a:p>
            <a:pPr/>
            <a:r>
              <a:rPr lang="zh-CN" dirty="0"/>
              <a:t>• "它替代的不是软件，是那通凌晨两点的电话" —— 这句如果现场有笑声，等一下再继续。</a:t>
            </a:r>
          </a:p>
          <a:p>
            <a:pPr/>
            <a:r>
              <a:rPr lang="zh-CN" dirty="0"/>
              <a:t>• 下面两行小字不要念，留给听众自己看。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能力一：自愈（60 秒，建议现场演示）</a:t>
            </a:r>
          </a:p>
          <a:p>
            <a:pPr/>
            <a:endParaRPr lang="zh-CN" dirty="0"/>
          </a:p>
          <a:p>
            <a:pPr/>
            <a:r>
              <a:rPr lang="zh-CN" dirty="0"/>
              <a:t>• 右侧终端是静态示意，如果有条件就现场跑一遍真实任务，效果远好于念稿。</a:t>
            </a:r>
          </a:p>
          <a:p>
            <a:pPr/>
            <a:r>
              <a:rPr lang="zh-CN" dirty="0"/>
              <a:t>• 演示时重点指向 [heal] 那一行：这是传统自动化做不到的一步。</a:t>
            </a:r>
          </a:p>
          <a:p>
            <a:pPr/>
            <a:r>
              <a:rPr lang="zh-CN" dirty="0"/>
              <a:t>• 关键话术："它不是报错，它是处理完了告诉你"。</a:t>
            </a:r>
          </a:p>
          <a:p>
            <a:pPr/>
            <a:r>
              <a:rPr lang="zh-CN" dirty="0"/>
              <a:t>• 被问"降级会不会掩盖问题"：会记录，审计页可查，降级只是不停下来等人工。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能力二：接入（45 秒）</a:t>
            </a:r>
          </a:p>
          <a:p>
            <a:pPr/>
            <a:endParaRPr lang="zh-CN" dirty="0"/>
          </a:p>
          <a:p>
            <a:pPr/>
            <a:r>
              <a:rPr lang="zh-CN" dirty="0"/>
              <a:t>• 核心是消除抵触：听众最怕"又要上一套新系统"。</a:t>
            </a:r>
          </a:p>
          <a:p>
            <a:pPr/>
            <a:r>
              <a:rPr lang="zh-CN" dirty="0"/>
              <a:t>• 明确说：不用改造现有系统，命令行、API、表格、MCP 直接接。</a:t>
            </a:r>
          </a:p>
          <a:p>
            <a:pPr/>
            <a:r>
              <a:rPr lang="zh-CN" dirty="0"/>
              <a:t>• 右侧六个方块可以快速扫过，不用逐个念。</a:t>
            </a:r>
          </a:p>
          <a:p>
            <a:pPr/>
            <a:r>
              <a:rPr lang="zh-CN" dirty="0"/>
              <a:t>• 被问"支持哪些 MCP"：当前已覆盖 100+ 常用工具，具体清单在文档里。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效果对照（45 秒）</a:t>
            </a:r>
          </a:p>
          <a:p>
            <a:pPr/>
            <a:endParaRPr lang="zh-CN" dirty="0"/>
          </a:p>
          <a:p>
            <a:pPr/>
            <a:r>
              <a:rPr lang="zh-CN" dirty="0"/>
              <a:t>• 先讲左右两张卡片的差别：一个等人修，一个自己处理完。</a:t>
            </a:r>
          </a:p>
          <a:p>
            <a:pPr/>
            <a:r>
              <a:rPr lang="zh-CN" dirty="0"/>
              <a:t>• 再指柱状图的下降趋势，重点不是 Q4 的 4，而是"逐季在降"这个方向。</a:t>
            </a:r>
          </a:p>
          <a:p>
            <a:pPr/>
            <a:r>
              <a:rPr lang="zh-CN" dirty="0"/>
              <a:t>• 必须念底部口径：12 家试点企业，2026 Q1–Q4，按每千个自动化任务统计。</a:t>
            </a:r>
          </a:p>
          <a:p>
            <a:pPr/>
            <a:r>
              <a:rPr lang="zh-CN" dirty="0"/>
              <a:t>• 不要把这页讲成技术细节，讲完就走。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收尾与行动（30 秒）</a:t>
            </a:r>
          </a:p>
          <a:p>
            <a:pPr/>
            <a:endParaRPr lang="zh-CN" dirty="0"/>
          </a:p>
          <a:p>
            <a:pPr/>
            <a:r>
              <a:rPr lang="zh-CN" dirty="0"/>
              <a:t>• 唯一行动：申请试点接入。不要并列多个联系方式或多个 CTA。</a:t>
            </a:r>
          </a:p>
          <a:p>
            <a:pPr/>
            <a:r>
              <a:rPr lang="zh-CN" dirty="0"/>
              <a:t>• "挑一个你最不想再手工做的流程，交给它跑两周" —— 这句降低门槛，务必说出来。</a:t>
            </a:r>
          </a:p>
          <a:p>
            <a:pPr/>
            <a:r>
              <a:rPr lang="zh-CN" dirty="0"/>
              <a:t>• 留 2 秒给按钮，然后停下来等提问，不要自己继续讲。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gentflow-os-launc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gentflow-os-launc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18c20f724612326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42ee3c18d8446d2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afd6c513fff8802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bcec4899596387e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47ad94ee52537ee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b8f70e8753bb2d6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20478eab5e1386d.png"/>
  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17" r="0" b="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7000"/>
                  </a:schemeClr>
                </a:gs>
                <a:gs pos="42000">
                  <a:schemeClr val="lt1">
                    <a:alpha val="88000"/>
                  </a:schemeClr>
                </a:gs>
                <a:gs pos="72000">
                  <a:schemeClr val="lt1">
                    <a:alpha val="35000"/>
                  </a:schemeClr>
                </a:gs>
                <a:gs pos="100000">
                  <a:schemeClr val="lt1">
                    <a:alpha val="12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55000"/>
                  </a:schemeClr>
                </a:gs>
                <a:gs pos="35000">
                  <a:schemeClr val="lt1">
                    <a:alpha val="0"/>
                  </a:schemeClr>
                </a:gs>
                <a:gs pos="100000">
                  <a:schemeClr val="l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0"/>
              <a:ext cx="121920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cover-kicker"/>
          <p:cNvGrpSpPr/>
          <p:nvPr/>
        </p:nvGrpSpPr>
        <p:grpSpPr>
          <a:xfrm>
            <a:off x="757238" y="977741"/>
            <a:ext cx="2145970" cy="161925"/>
            <a:chOff x="757238" y="977741"/>
            <a:chExt cx="2145970" cy="161925"/>
          </a:xfrm>
        </p:grpSpPr>
        <p:sp>
          <p:nvSpPr>
            <p:cNvPr id="8" name="TextBox 8"/>
            <p:cNvSpPr txBox="1"/>
            <p:nvPr/>
          </p:nvSpPr>
          <p:spPr>
            <a:xfrm>
              <a:off x="757238" y="977741"/>
              <a:ext cx="21459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3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PRODUCT LAUNCH · 2026</a:t>
              </a:r>
            </a:p>
          </p:txBody>
        </p:sp>
      </p:grpSp>
      <p:grpSp>
        <p:nvGrpSpPr>
          <p:cNvPr id="12" name="cover-title"/>
          <p:cNvGrpSpPr/>
          <p:nvPr/>
        </p:nvGrpSpPr>
        <p:grpSpPr>
          <a:xfrm>
            <a:off x="742950" y="2175510"/>
            <a:ext cx="3697163" cy="1635252"/>
            <a:chOff x="742950" y="2175510"/>
            <a:chExt cx="3697163" cy="1635252"/>
          </a:xfrm>
        </p:grpSpPr>
        <p:sp>
          <p:nvSpPr>
            <p:cNvPr id="10" name="TextBox 10"/>
            <p:cNvSpPr txBox="1"/>
            <p:nvPr/>
          </p:nvSpPr>
          <p:spPr>
            <a:xfrm>
              <a:off x="742950" y="2175510"/>
              <a:ext cx="3697163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智流 OS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808" y="3341370"/>
              <a:ext cx="22774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AgentFlow OS</a:t>
              </a:r>
            </a:p>
          </p:txBody>
        </p:sp>
      </p:grpSp>
      <p:grpSp>
        <p:nvGrpSpPr>
          <p:cNvPr id="16" name="cover-claim"/>
          <p:cNvGrpSpPr/>
          <p:nvPr/>
        </p:nvGrpSpPr>
        <p:grpSpPr>
          <a:xfrm>
            <a:off x="762000" y="4038600"/>
            <a:ext cx="4675632" cy="752856"/>
            <a:chOff x="762000" y="4038600"/>
            <a:chExt cx="4675632" cy="752856"/>
          </a:xfrm>
        </p:grpSpPr>
        <p:sp>
          <p:nvSpPr>
            <p:cNvPr id="13" name="Line 13"/>
            <p:cNvSpPr/>
            <p:nvPr/>
          </p:nvSpPr>
          <p:spPr>
            <a:xfrm>
              <a:off x="762000" y="40386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7656" y="414909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不是更大的模型，是能真正动手的运行时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704" y="45567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连接大模型与现实业务的自主智能体协作引擎</a:t>
              </a:r>
            </a:p>
          </p:txBody>
        </p:sp>
      </p:grpSp>
      <p:grpSp>
        <p:nvGrpSpPr>
          <p:cNvPr id="20" name="cover-footer"/>
          <p:cNvGrpSpPr/>
          <p:nvPr/>
        </p:nvGrpSpPr>
        <p:grpSpPr>
          <a:xfrm>
            <a:off x="757047" y="5791200"/>
            <a:ext cx="10677906" cy="466439"/>
            <a:chOff x="757047" y="5791200"/>
            <a:chExt cx="10677906" cy="466439"/>
          </a:xfrm>
        </p:grpSpPr>
        <p:sp>
          <p:nvSpPr>
            <p:cNvPr id="17" name="Line 17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7047" y="6066949"/>
              <a:ext cx="18107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产品研发团队 · 2026 战略发布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83090" y="60669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01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17" r="0" b="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2000"/>
                  </a:schemeClr>
                </a:gs>
                <a:gs pos="48000">
                  <a:schemeClr val="lt1">
                    <a:alpha val="74000"/>
                  </a:schemeClr>
                </a:gs>
                <a:gs pos="78000">
                  <a:schemeClr val="lt1">
                    <a:alpha val="30000"/>
                  </a:schemeClr>
                </a:gs>
                <a:gs pos="100000">
                  <a:schemeClr val="lt1">
                    <a:alpha val="1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30000"/>
                  </a:schemeClr>
                </a:gs>
                <a:gs pos="55000">
                  <a:schemeClr val="lt1">
                    <a:alpha val="10000"/>
                  </a:schemeClr>
                </a:gs>
                <a:gs pos="74000">
                  <a:schemeClr val="lt1">
                    <a:alpha val="88000"/>
                  </a:schemeClr>
                </a:gs>
                <a:gs pos="100000">
                  <a:schemeClr val="lt1">
                    <a:alpha val="9600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page-kicker"/>
          <p:cNvGrpSpPr/>
          <p:nvPr/>
        </p:nvGrpSpPr>
        <p:grpSpPr>
          <a:xfrm>
            <a:off x="757238" y="863441"/>
            <a:ext cx="1582699" cy="161925"/>
            <a:chOff x="757238" y="863441"/>
            <a:chExt cx="1582699" cy="161925"/>
          </a:xfrm>
        </p:grpSpPr>
        <p:sp>
          <p:nvSpPr>
            <p:cNvPr id="7" name="TextBox 7"/>
            <p:cNvSpPr txBox="1"/>
            <p:nvPr/>
          </p:nvSpPr>
          <p:spPr>
            <a:xfrm>
              <a:off x="757238" y="863441"/>
              <a:ext cx="15826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3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THE TENSION · 02</a:t>
              </a:r>
            </a:p>
          </p:txBody>
        </p:sp>
      </p:grpSp>
      <p:grpSp>
        <p:nvGrpSpPr>
          <p:cNvPr id="11" name="tension-statement"/>
          <p:cNvGrpSpPr/>
          <p:nvPr/>
        </p:nvGrpSpPr>
        <p:grpSpPr>
          <a:xfrm>
            <a:off x="742950" y="1737360"/>
            <a:ext cx="5689313" cy="1562100"/>
            <a:chOff x="742950" y="1737360"/>
            <a:chExt cx="5689313" cy="1562100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737360"/>
              <a:ext cx="41415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 xml:space="preserve">流程跑通了 </a:t>
              </a:r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97%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2480310"/>
              <a:ext cx="56893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 xml:space="preserve">剩下 </a:t>
              </a:r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3%</a:t>
              </a:r>
              <a:r>
                <a:rPr lang="zh-CN" sz="4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 xml:space="preserve"> 吃掉全部人力</a:t>
              </a:r>
            </a:p>
          </p:txBody>
        </p:sp>
      </p:grpSp>
      <p:grpSp>
        <p:nvGrpSpPr>
          <p:cNvPr id="15" name="tension-scene"/>
          <p:cNvGrpSpPr/>
          <p:nvPr/>
        </p:nvGrpSpPr>
        <p:grpSpPr>
          <a:xfrm>
            <a:off x="754380" y="3390900"/>
            <a:ext cx="4255770" cy="931545"/>
            <a:chOff x="754380" y="3390900"/>
            <a:chExt cx="4255770" cy="931545"/>
          </a:xfrm>
        </p:grpSpPr>
        <p:sp>
          <p:nvSpPr>
            <p:cNvPr id="12" name="Line 12"/>
            <p:cNvSpPr/>
            <p:nvPr/>
          </p:nvSpPr>
          <p:spPr>
            <a:xfrm>
              <a:off x="762000" y="33909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4380" y="36861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凌晨两点，第三次跑批失败。日志里没有报错，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380" y="40290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只有一个没人预料到的字段格式。</a:t>
              </a:r>
            </a:p>
          </p:txBody>
        </p:sp>
      </p:grpSp>
      <p:grpSp>
        <p:nvGrpSpPr>
          <p:cNvPr id="22" name="tension-facts"/>
          <p:cNvGrpSpPr/>
          <p:nvPr/>
        </p:nvGrpSpPr>
        <p:grpSpPr>
          <a:xfrm>
            <a:off x="745236" y="4634865"/>
            <a:ext cx="8096631" cy="746474"/>
            <a:chOff x="745236" y="4634865"/>
            <a:chExt cx="8096631" cy="746474"/>
          </a:xfrm>
        </p:grpSpPr>
        <p:sp>
          <p:nvSpPr>
            <p:cNvPr id="16" name="TextBox 16"/>
            <p:cNvSpPr txBox="1"/>
            <p:nvPr/>
          </p:nvSpPr>
          <p:spPr>
            <a:xfrm>
              <a:off x="745236" y="4634865"/>
              <a:ext cx="92273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41%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519064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自动化项目最终被放弃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3236" y="4634865"/>
              <a:ext cx="922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6.2h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05047" y="519064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工程师每周花在修流程上的时间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41236" y="4634865"/>
              <a:ext cx="89820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3.4x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53047" y="519064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分支数每翻一倍，维护成本的增幅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762000" y="5791200"/>
            <a:ext cx="10672953" cy="466439"/>
            <a:chOff x="762000" y="5791200"/>
            <a:chExt cx="10672953" cy="466439"/>
          </a:xfrm>
        </p:grpSpPr>
        <p:sp>
          <p:nvSpPr>
            <p:cNvPr id="23" name="Line 23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983090" y="60669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02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17" r="0" b="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6000"/>
                  </a:schemeClr>
                </a:gs>
                <a:gs pos="30000">
                  <a:schemeClr val="lt1">
                    <a:alpha val="88000"/>
                  </a:schemeClr>
                </a:gs>
                <a:gs pos="55000">
                  <a:schemeClr val="lt1">
                    <a:alpha val="66000"/>
                  </a:schemeClr>
                </a:gs>
                <a:gs pos="80000">
                  <a:schemeClr val="lt1">
                    <a:alpha val="24000"/>
                  </a:schemeClr>
                </a:gs>
                <a:gs pos="100000">
                  <a:schemeClr val="lt1">
                    <a:alpha val="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34000"/>
                  </a:schemeClr>
                </a:gs>
                <a:gs pos="38000">
                  <a:schemeClr val="lt1">
                    <a:alpha val="2000"/>
                  </a:schemeClr>
                </a:gs>
                <a:gs pos="100000">
                  <a:schemeClr val="lt1">
                    <a:alpha val="5500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page-kicker"/>
          <p:cNvGrpSpPr/>
          <p:nvPr/>
        </p:nvGrpSpPr>
        <p:grpSpPr>
          <a:xfrm>
            <a:off x="757238" y="863441"/>
            <a:ext cx="1576868" cy="161925"/>
            <a:chOff x="757238" y="863441"/>
            <a:chExt cx="1576868" cy="161925"/>
          </a:xfrm>
        </p:grpSpPr>
        <p:sp>
          <p:nvSpPr>
            <p:cNvPr id="7" name="TextBox 7"/>
            <p:cNvSpPr txBox="1"/>
            <p:nvPr/>
          </p:nvSpPr>
          <p:spPr>
            <a:xfrm>
              <a:off x="757238" y="863441"/>
              <a:ext cx="15768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3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POSITIONING · 03</a:t>
              </a:r>
            </a:p>
          </p:txBody>
        </p:sp>
      </p:grpSp>
      <p:grpSp>
        <p:nvGrpSpPr>
          <p:cNvPr id="11" name="position-claim"/>
          <p:cNvGrpSpPr/>
          <p:nvPr/>
        </p:nvGrpSpPr>
        <p:grpSpPr>
          <a:xfrm>
            <a:off x="742950" y="2213610"/>
            <a:ext cx="5692140" cy="1428750"/>
            <a:chOff x="742950" y="2213610"/>
            <a:chExt cx="5692140" cy="1428750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221361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它替代的不是软件，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282321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是那通凌晨两点的电话</a:t>
              </a:r>
            </a:p>
          </p:txBody>
        </p:sp>
      </p:grpSp>
      <p:grpSp>
        <p:nvGrpSpPr>
          <p:cNvPr id="15" name="position-qualifier"/>
          <p:cNvGrpSpPr/>
          <p:nvPr/>
        </p:nvGrpSpPr>
        <p:grpSpPr>
          <a:xfrm>
            <a:off x="754380" y="3810000"/>
            <a:ext cx="6195822" cy="931545"/>
            <a:chOff x="754380" y="3810000"/>
            <a:chExt cx="6195822" cy="931545"/>
          </a:xfrm>
        </p:grpSpPr>
        <p:sp>
          <p:nvSpPr>
            <p:cNvPr id="12" name="Line 12"/>
            <p:cNvSpPr/>
            <p:nvPr/>
          </p:nvSpPr>
          <p:spPr>
            <a:xfrm>
              <a:off x="762000" y="3810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4380" y="4105275"/>
              <a:ext cx="6195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智流 OS 接手的是最后那 3%：没见过的分支、没人写过的异常处理、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380" y="444817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以及所有「按理说不该出错但就是出了」的时刻。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762000" y="5791200"/>
            <a:ext cx="10672953" cy="466439"/>
            <a:chOff x="762000" y="5791200"/>
            <a:chExt cx="10672953" cy="466439"/>
          </a:xfrm>
        </p:grpSpPr>
        <p:sp>
          <p:nvSpPr>
            <p:cNvPr id="16" name="Line 16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83090" y="60669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03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17" r="0" b="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2000"/>
                  </a:schemeClr>
                </a:gs>
                <a:gs pos="45000">
                  <a:schemeClr val="lt1">
                    <a:alpha val="80000"/>
                  </a:schemeClr>
                </a:gs>
                <a:gs pos="62000">
                  <a:schemeClr val="lt1">
                    <a:alpha val="30000"/>
                  </a:schemeClr>
                </a:gs>
                <a:gs pos="100000">
                  <a:schemeClr val="lt1">
                    <a:alpha val="4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12000"/>
                  </a:schemeClr>
                </a:gs>
                <a:gs pos="45000">
                  <a:schemeClr val="lt1">
                    <a:alpha val="0"/>
                  </a:schemeClr>
                </a:gs>
                <a:gs pos="100000">
                  <a:schemeClr val="lt1">
                    <a:alpha val="6800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page-kicker"/>
          <p:cNvGrpSpPr/>
          <p:nvPr/>
        </p:nvGrpSpPr>
        <p:grpSpPr>
          <a:xfrm>
            <a:off x="757238" y="863441"/>
            <a:ext cx="1874007" cy="161925"/>
            <a:chOff x="757238" y="863441"/>
            <a:chExt cx="1874007" cy="161925"/>
          </a:xfrm>
        </p:grpSpPr>
        <p:sp>
          <p:nvSpPr>
            <p:cNvPr id="7" name="TextBox 7"/>
            <p:cNvSpPr txBox="1"/>
            <p:nvPr/>
          </p:nvSpPr>
          <p:spPr>
            <a:xfrm>
              <a:off x="757238" y="863441"/>
              <a:ext cx="18740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3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CAPABILITY ONE · 04</a:t>
              </a:r>
            </a:p>
          </p:txBody>
        </p:sp>
      </p:grpSp>
      <p:grpSp>
        <p:nvGrpSpPr>
          <p:cNvPr id="10" name="capability-icon"/>
          <p:cNvGrpSpPr/>
          <p:nvPr/>
        </p:nvGrpSpPr>
        <p:grpSpPr>
          <a:xfrm>
            <a:off x="842962" y="1477328"/>
            <a:ext cx="226695" cy="291465"/>
            <a:chOff x="842962" y="1477328"/>
            <a:chExt cx="226695" cy="291465"/>
          </a:xfrm>
        </p:grpSpPr>
        <p:sp>
          <p:nvSpPr>
            <p:cNvPr id="9" name="Freeform 9"/>
            <p:cNvSpPr/>
            <p:nvPr/>
          </p:nvSpPr>
          <p:spPr>
            <a:xfrm>
              <a:off x="842962" y="1477328"/>
              <a:ext cx="226695" cy="291465"/>
            </a:xfrm>
            <a:custGeom>
              <a:avLst/>
              <a:gdLst/>
              <a:ahLst/>
              <a:cxnLst/>
              <a:rect l="l" t="t" r="r" b="b"/>
              <a:pathLst>
                <a:path w="226695" h="291465">
                  <a:moveTo>
                    <a:pt x="129540" y="0"/>
                  </a:moveTo>
                  <a:lnTo>
                    <a:pt x="129540" y="113348"/>
                  </a:lnTo>
                  <a:lnTo>
                    <a:pt x="226695" y="113348"/>
                  </a:lnTo>
                  <a:lnTo>
                    <a:pt x="97155" y="291465"/>
                  </a:lnTo>
                  <a:lnTo>
                    <a:pt x="97155" y="178118"/>
                  </a:lnTo>
                  <a:lnTo>
                    <a:pt x="0" y="178118"/>
                  </a:lnTo>
                  <a:lnTo>
                    <a:pt x="129540" y="0"/>
                  </a:lnTo>
                </a:path>
              </a:pathLst>
            </a:custGeom>
            <a:noFill/>
            <a:ln w="32385" cap="rnd">
              <a:solidFill>
                <a:schemeClr val="accent2"/>
              </a:solidFill>
              <a:round/>
            </a:ln>
          </p:spPr>
        </p:sp>
      </p:grpSp>
      <p:grpSp>
        <p:nvGrpSpPr>
          <p:cNvPr id="17" name="capability-text"/>
          <p:cNvGrpSpPr/>
          <p:nvPr/>
        </p:nvGrpSpPr>
        <p:grpSpPr>
          <a:xfrm>
            <a:off x="742950" y="2004060"/>
            <a:ext cx="3995928" cy="2489835"/>
            <a:chOff x="742950" y="2004060"/>
            <a:chExt cx="3995928" cy="2489835"/>
          </a:xfrm>
        </p:grpSpPr>
        <p:sp>
          <p:nvSpPr>
            <p:cNvPr id="11" name="TextBox 11"/>
            <p:cNvSpPr txBox="1"/>
            <p:nvPr/>
          </p:nvSpPr>
          <p:spPr>
            <a:xfrm>
              <a:off x="742950" y="200406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失败不用等人来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28194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904" y="31470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任务失败时，它先自己诊断；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3470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能降级就降级，实在不行才交回给人。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380" y="38766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你拿到的不是报错堆栈，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42005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是已经处理完的结果。</a:t>
              </a:r>
            </a:p>
          </p:txBody>
        </p:sp>
      </p:grpSp>
      <p:grpSp>
        <p:nvGrpSpPr>
          <p:cNvPr id="22" name="terminal"/>
          <p:cNvGrpSpPr/>
          <p:nvPr/>
        </p:nvGrpSpPr>
        <p:grpSpPr>
          <a:xfrm>
            <a:off x="762000" y="4552950"/>
            <a:ext cx="4572000" cy="1066800"/>
            <a:chOff x="762000" y="4552950"/>
            <a:chExt cx="4572000" cy="1066800"/>
          </a:xfrm>
        </p:grpSpPr>
        <p:sp>
          <p:nvSpPr>
            <p:cNvPr id="18" name="Rectangle 18"/>
            <p:cNvSpPr/>
            <p:nvPr/>
          </p:nvSpPr>
          <p:spPr>
            <a:xfrm>
              <a:off x="762000" y="4552950"/>
              <a:ext cx="4572000" cy="1066800"/>
            </a:xfrm>
            <a:prstGeom prst="roundRect">
              <a:avLst>
                <a:gd name="adj" fmla="val 7143"/>
              </a:avLst>
            </a:prstGeom>
            <a:solidFill>
              <a:srgbClr val="0E0F14">
                <a:alpha val="66000"/>
              </a:srgbClr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4504" y="470916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F9A"/>
                  </a:solidFill>
                  <a:latin typeface="Consolas"/>
                  <a:ea typeface="Microsoft YaHei"/>
                  <a:cs typeface="Consolas"/>
                </a:rPr>
                <a:t>[exec] 步骤 2 失败 · 字段格式不匹配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4504" y="4994910"/>
              <a:ext cx="2516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[heal] 切换容错解析 · 降级继续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4504" y="5280660"/>
              <a:ext cx="2653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ADE80"/>
                  </a:solidFill>
                  <a:latin typeface="Consolas"/>
                  <a:ea typeface="Microsoft YaHei"/>
                  <a:cs typeface="Consolas"/>
                </a:rPr>
                <a:t>[done] 4/4 完成 · 人工介入 0 次</a:t>
              </a:r>
            </a:p>
          </p:txBody>
        </p:sp>
      </p:grpSp>
      <p:grpSp>
        <p:nvGrpSpPr>
          <p:cNvPr id="26" name="badge"/>
          <p:cNvGrpSpPr/>
          <p:nvPr/>
        </p:nvGrpSpPr>
        <p:grpSpPr>
          <a:xfrm>
            <a:off x="10533964" y="1657350"/>
            <a:ext cx="801472" cy="733139"/>
            <a:chOff x="10533964" y="1657350"/>
            <a:chExt cx="801472" cy="733139"/>
          </a:xfrm>
        </p:grpSpPr>
        <p:sp>
          <p:nvSpPr>
            <p:cNvPr id="23" name="Ellipse 23"/>
            <p:cNvSpPr/>
            <p:nvPr/>
          </p:nvSpPr>
          <p:spPr>
            <a:xfrm>
              <a:off x="10725150" y="1657350"/>
              <a:ext cx="419100" cy="419100"/>
            </a:xfrm>
            <a:prstGeom prst="ellipse">
              <a:avLst/>
            </a:prstGeom>
            <a:solidFill>
              <a:srgbClr val="4ADE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70923" y="1781175"/>
              <a:ext cx="127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09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33964" y="21997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人工介入次数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762000" y="5791200"/>
            <a:ext cx="10672953" cy="466439"/>
            <a:chOff x="762000" y="5791200"/>
            <a:chExt cx="10672953" cy="466439"/>
          </a:xfrm>
        </p:grpSpPr>
        <p:sp>
          <p:nvSpPr>
            <p:cNvPr id="27" name="Line 27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83090" y="60669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04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17" r="0" b="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2000"/>
                  </a:schemeClr>
                </a:gs>
                <a:gs pos="45000">
                  <a:schemeClr val="lt1">
                    <a:alpha val="80000"/>
                  </a:schemeClr>
                </a:gs>
                <a:gs pos="62000">
                  <a:schemeClr val="lt1">
                    <a:alpha val="30000"/>
                  </a:schemeClr>
                </a:gs>
                <a:gs pos="100000">
                  <a:schemeClr val="lt1">
                    <a:alpha val="4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12000"/>
                  </a:schemeClr>
                </a:gs>
                <a:gs pos="45000">
                  <a:schemeClr val="lt1">
                    <a:alpha val="0"/>
                  </a:schemeClr>
                </a:gs>
                <a:gs pos="100000">
                  <a:schemeClr val="lt1">
                    <a:alpha val="6800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page-kicker"/>
          <p:cNvGrpSpPr/>
          <p:nvPr/>
        </p:nvGrpSpPr>
        <p:grpSpPr>
          <a:xfrm>
            <a:off x="757238" y="863441"/>
            <a:ext cx="1897334" cy="161925"/>
            <a:chOff x="757238" y="863441"/>
            <a:chExt cx="1897334" cy="161925"/>
          </a:xfrm>
        </p:grpSpPr>
        <p:sp>
          <p:nvSpPr>
            <p:cNvPr id="7" name="TextBox 7"/>
            <p:cNvSpPr txBox="1"/>
            <p:nvPr/>
          </p:nvSpPr>
          <p:spPr>
            <a:xfrm>
              <a:off x="757238" y="863441"/>
              <a:ext cx="18973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3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CAPABILITY TWO · 05</a:t>
              </a:r>
            </a:p>
          </p:txBody>
        </p:sp>
      </p:grpSp>
      <p:grpSp>
        <p:nvGrpSpPr>
          <p:cNvPr id="13" name="capability-icon"/>
          <p:cNvGrpSpPr/>
          <p:nvPr/>
        </p:nvGrpSpPr>
        <p:grpSpPr>
          <a:xfrm>
            <a:off x="810578" y="1497004"/>
            <a:ext cx="275272" cy="271788"/>
            <a:chOff x="810578" y="1497004"/>
            <a:chExt cx="275272" cy="271788"/>
          </a:xfrm>
        </p:grpSpPr>
        <p:grpSp>
          <p:nvGrpSpPr>
            <p:cNvPr id="12" name="Group 12"/>
            <p:cNvGrpSpPr/>
            <p:nvPr/>
          </p:nvGrpSpPr>
          <p:grpSpPr>
            <a:xfrm>
              <a:off x="810578" y="1497004"/>
              <a:ext cx="275272" cy="271788"/>
              <a:chOff x="810578" y="1497004"/>
              <a:chExt cx="275272" cy="27178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30254" y="1623060"/>
                <a:ext cx="126056" cy="126056"/>
              </a:xfrm>
              <a:custGeom>
                <a:avLst/>
                <a:gdLst/>
                <a:ahLst/>
                <a:cxnLst/>
                <a:rect l="l" t="t" r="r" b="b"/>
                <a:pathLst>
                  <a:path w="126056" h="126056">
                    <a:moveTo>
                      <a:pt x="45093" y="0"/>
                    </a:moveTo>
                    <a:lnTo>
                      <a:pt x="126056" y="80962"/>
                    </a:lnTo>
                    <a:lnTo>
                      <a:pt x="101767" y="105251"/>
                    </a:lnTo>
                    <a:cubicBezTo>
                      <a:pt x="87385" y="120108"/>
                      <a:pt x="66111" y="126056"/>
                      <a:pt x="46109" y="120812"/>
                    </a:cubicBezTo>
                    <a:cubicBezTo>
                      <a:pt x="26108" y="115569"/>
                      <a:pt x="10487" y="99948"/>
                      <a:pt x="5244" y="79947"/>
                    </a:cubicBezTo>
                    <a:cubicBezTo>
                      <a:pt x="0" y="59945"/>
                      <a:pt x="5948" y="38671"/>
                      <a:pt x="20805" y="24289"/>
                    </a:cubicBezTo>
                    <a:lnTo>
                      <a:pt x="45093" y="0"/>
                    </a:lnTo>
                  </a:path>
                </a:pathLst>
              </a:custGeom>
              <a:noFill/>
              <a:ln w="32385" cap="rnd">
                <a:solidFill>
                  <a:schemeClr val="accent2"/>
                </a:solidFill>
                <a:round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56310" y="1497004"/>
                <a:ext cx="129540" cy="126056"/>
              </a:xfrm>
              <a:custGeom>
                <a:avLst/>
                <a:gdLst/>
                <a:ahLst/>
                <a:cxnLst/>
                <a:rect l="l" t="t" r="r" b="b"/>
                <a:pathLst>
                  <a:path w="129540" h="126056">
                    <a:moveTo>
                      <a:pt x="80962" y="126056"/>
                    </a:moveTo>
                    <a:lnTo>
                      <a:pt x="0" y="45093"/>
                    </a:lnTo>
                    <a:lnTo>
                      <a:pt x="24289" y="20805"/>
                    </a:lnTo>
                    <a:cubicBezTo>
                      <a:pt x="38671" y="5948"/>
                      <a:pt x="59945" y="0"/>
                      <a:pt x="79947" y="5244"/>
                    </a:cubicBezTo>
                    <a:cubicBezTo>
                      <a:pt x="99948" y="10487"/>
                      <a:pt x="115569" y="26108"/>
                      <a:pt x="120812" y="46109"/>
                    </a:cubicBezTo>
                    <a:cubicBezTo>
                      <a:pt x="126056" y="66111"/>
                      <a:pt x="120108" y="87385"/>
                      <a:pt x="105251" y="101767"/>
                    </a:cubicBezTo>
                    <a:lnTo>
                      <a:pt x="129540" y="126056"/>
                    </a:lnTo>
                  </a:path>
                </a:pathLst>
              </a:custGeom>
              <a:noFill/>
              <a:ln w="32385" cap="rnd">
                <a:solidFill>
                  <a:schemeClr val="accent2"/>
                </a:solidFill>
                <a:round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10578" y="1728311"/>
                <a:ext cx="40481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40481">
                    <a:moveTo>
                      <a:pt x="0" y="40481"/>
                    </a:moveTo>
                    <a:lnTo>
                      <a:pt x="40481" y="0"/>
                    </a:lnTo>
                  </a:path>
                </a:pathLst>
              </a:custGeom>
              <a:noFill/>
              <a:ln w="32385" cap="rnd">
                <a:solidFill>
                  <a:schemeClr val="accent2"/>
                </a:solidFill>
                <a:round/>
              </a:ln>
            </p:spPr>
          </p:sp>
        </p:grpSp>
      </p:grpSp>
      <p:grpSp>
        <p:nvGrpSpPr>
          <p:cNvPr id="19" name="capability-text"/>
          <p:cNvGrpSpPr/>
          <p:nvPr/>
        </p:nvGrpSpPr>
        <p:grpSpPr>
          <a:xfrm>
            <a:off x="742950" y="2004060"/>
            <a:ext cx="5126736" cy="2139029"/>
            <a:chOff x="742950" y="2004060"/>
            <a:chExt cx="5126736" cy="2139029"/>
          </a:xfrm>
        </p:grpSpPr>
        <p:sp>
          <p:nvSpPr>
            <p:cNvPr id="14" name="TextBox 14"/>
            <p:cNvSpPr txBox="1"/>
            <p:nvPr/>
          </p:nvSpPr>
          <p:spPr>
            <a:xfrm>
              <a:off x="742950" y="200406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你现有的工具照旧用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28194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904" y="31470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不用为了上智能体先做一轮系统改造。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4380" y="355282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它学会用你的工具，而不是让你换工具。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952399"/>
              <a:ext cx="25363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统一语义总线 · 一次接入，所有智能体共享</a:t>
              </a:r>
            </a:p>
          </p:txBody>
        </p:sp>
      </p:grpSp>
      <p:grpSp>
        <p:nvGrpSpPr>
          <p:cNvPr id="32" name="connector-chips"/>
          <p:cNvGrpSpPr/>
          <p:nvPr/>
        </p:nvGrpSpPr>
        <p:grpSpPr>
          <a:xfrm>
            <a:off x="762000" y="4305300"/>
            <a:ext cx="4572000" cy="1314450"/>
            <a:chOff x="762000" y="4305300"/>
            <a:chExt cx="4572000" cy="1314450"/>
          </a:xfrm>
        </p:grpSpPr>
        <p:sp>
          <p:nvSpPr>
            <p:cNvPr id="20" name="Rectangle 20"/>
            <p:cNvSpPr/>
            <p:nvPr/>
          </p:nvSpPr>
          <p:spPr>
            <a:xfrm>
              <a:off x="762000" y="4305300"/>
              <a:ext cx="2190750" cy="40005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504" y="4432935"/>
              <a:ext cx="7869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命令行 CLI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143250" y="4305300"/>
              <a:ext cx="2190750" cy="40005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65754" y="4432935"/>
              <a:ext cx="1052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内部 REST API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762500"/>
              <a:ext cx="2190750" cy="40005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4504" y="48901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本地文件与表格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143250" y="4762500"/>
              <a:ext cx="2190750" cy="40005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65754" y="4890135"/>
              <a:ext cx="7022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MCP 服务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" y="5219700"/>
              <a:ext cx="2190750" cy="40005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84504" y="5347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数据库与仓库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143250" y="5219700"/>
              <a:ext cx="2190750" cy="400050"/>
            </a:xfrm>
            <a:prstGeom prst="roundRect">
              <a:avLst>
                <a:gd name="adj" fmla="val 14286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365754" y="53473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浏览器与桌面</a:t>
              </a:r>
            </a:p>
          </p:txBody>
        </p:sp>
      </p:grpSp>
      <p:grpSp>
        <p:nvGrpSpPr>
          <p:cNvPr id="36" name="badge"/>
          <p:cNvGrpSpPr/>
          <p:nvPr/>
        </p:nvGrpSpPr>
        <p:grpSpPr>
          <a:xfrm>
            <a:off x="10599928" y="1657350"/>
            <a:ext cx="669544" cy="733139"/>
            <a:chOff x="10599928" y="1657350"/>
            <a:chExt cx="669544" cy="733139"/>
          </a:xfrm>
        </p:grpSpPr>
        <p:sp>
          <p:nvSpPr>
            <p:cNvPr id="33" name="Ellipse 33"/>
            <p:cNvSpPr/>
            <p:nvPr/>
          </p:nvSpPr>
          <p:spPr>
            <a:xfrm>
              <a:off x="10725150" y="165735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870923" y="1781175"/>
              <a:ext cx="1275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09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99928" y="21997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类接入方式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762000" y="5791200"/>
            <a:ext cx="10672953" cy="466439"/>
            <a:chOff x="762000" y="5791200"/>
            <a:chExt cx="10672953" cy="466439"/>
          </a:xfrm>
        </p:grpSpPr>
        <p:sp>
          <p:nvSpPr>
            <p:cNvPr id="37" name="Line 37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983090" y="60669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05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17" r="0" b="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0000"/>
                  </a:schemeClr>
                </a:gs>
                <a:gs pos="42000">
                  <a:schemeClr val="lt1">
                    <a:alpha val="74000"/>
                  </a:schemeClr>
                </a:gs>
                <a:gs pos="60000">
                  <a:schemeClr val="lt1">
                    <a:alpha val="24000"/>
                  </a:schemeClr>
                </a:gs>
                <a:gs pos="100000">
                  <a:schemeClr val="lt1">
                    <a:alpha val="4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10000"/>
                  </a:schemeClr>
                </a:gs>
                <a:gs pos="42000">
                  <a:schemeClr val="lt1">
                    <a:alpha val="0"/>
                  </a:schemeClr>
                </a:gs>
                <a:gs pos="82000">
                  <a:schemeClr val="lt1">
                    <a:alpha val="46000"/>
                  </a:schemeClr>
                </a:gs>
                <a:gs pos="100000">
                  <a:schemeClr val="lt1">
                    <a:alpha val="7000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page-kicker"/>
          <p:cNvGrpSpPr/>
          <p:nvPr/>
        </p:nvGrpSpPr>
        <p:grpSpPr>
          <a:xfrm>
            <a:off x="757238" y="863441"/>
            <a:ext cx="1903166" cy="161925"/>
            <a:chOff x="757238" y="863441"/>
            <a:chExt cx="1903166" cy="161925"/>
          </a:xfrm>
        </p:grpSpPr>
        <p:sp>
          <p:nvSpPr>
            <p:cNvPr id="7" name="TextBox 7"/>
            <p:cNvSpPr txBox="1"/>
            <p:nvPr/>
          </p:nvSpPr>
          <p:spPr>
            <a:xfrm>
              <a:off x="757238" y="863441"/>
              <a:ext cx="19031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3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BEFORE &amp; AFTER · 06</a:t>
              </a:r>
            </a:p>
          </p:txBody>
        </p:sp>
      </p:grpSp>
      <p:grpSp>
        <p:nvGrpSpPr>
          <p:cNvPr id="11" name="badge"/>
          <p:cNvGrpSpPr/>
          <p:nvPr/>
        </p:nvGrpSpPr>
        <p:grpSpPr>
          <a:xfrm>
            <a:off x="10229850" y="1104900"/>
            <a:ext cx="1181100" cy="388620"/>
            <a:chOff x="10229850" y="1104900"/>
            <a:chExt cx="1181100" cy="388620"/>
          </a:xfrm>
        </p:grpSpPr>
        <p:sp>
          <p:nvSpPr>
            <p:cNvPr id="9" name="Rectangle 9"/>
            <p:cNvSpPr/>
            <p:nvPr/>
          </p:nvSpPr>
          <p:spPr>
            <a:xfrm>
              <a:off x="10229850" y="1104900"/>
              <a:ext cx="1181100" cy="361950"/>
            </a:xfrm>
            <a:prstGeom prst="roundRect">
              <a:avLst>
                <a:gd name="adj" fmla="val 50000"/>
              </a:avLst>
            </a:prstGeom>
            <a:solidFill>
              <a:srgbClr val="4ADE8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77067" y="1200150"/>
              <a:ext cx="486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090C"/>
                  </a:solidFill>
                  <a:latin typeface="+mn-lt"/>
                  <a:ea typeface="+mn-ea"/>
                  <a:cs typeface="+mn-cs"/>
                </a:rPr>
                <a:t>-89%</a:t>
              </a:r>
            </a:p>
          </p:txBody>
        </p:sp>
      </p:grpSp>
      <p:grpSp>
        <p:nvGrpSpPr>
          <p:cNvPr id="17" name="compare-before"/>
          <p:cNvGrpSpPr/>
          <p:nvPr/>
        </p:nvGrpSpPr>
        <p:grpSpPr>
          <a:xfrm>
            <a:off x="762000" y="1695450"/>
            <a:ext cx="4762500" cy="1714500"/>
            <a:chOff x="762000" y="1695450"/>
            <a:chExt cx="4762500" cy="1714500"/>
          </a:xfrm>
        </p:grpSpPr>
        <p:sp>
          <p:nvSpPr>
            <p:cNvPr id="12" name="Rectangle 12"/>
            <p:cNvSpPr/>
            <p:nvPr/>
          </p:nvSpPr>
          <p:spPr>
            <a:xfrm>
              <a:off x="762000" y="1695450"/>
              <a:ext cx="4762500" cy="1714500"/>
            </a:xfrm>
            <a:prstGeom prst="roundRect">
              <a:avLst>
                <a:gd name="adj" fmla="val 4444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" y="16954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rgbClr val="3A3B4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847" y="1971199"/>
              <a:ext cx="6044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5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BEFORE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232029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出问题 → 等人修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0704" y="2899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异常分支靠人补，下次换个样子照样卡住。</a:t>
              </a:r>
            </a:p>
          </p:txBody>
        </p:sp>
      </p:grpSp>
      <p:grpSp>
        <p:nvGrpSpPr>
          <p:cNvPr id="23" name="compare-after"/>
          <p:cNvGrpSpPr/>
          <p:nvPr/>
        </p:nvGrpSpPr>
        <p:grpSpPr>
          <a:xfrm>
            <a:off x="762000" y="3600450"/>
            <a:ext cx="4762500" cy="1714500"/>
            <a:chOff x="762000" y="3600450"/>
            <a:chExt cx="47625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762000" y="3600450"/>
              <a:ext cx="4762500" cy="1714500"/>
            </a:xfrm>
            <a:prstGeom prst="roundRect">
              <a:avLst>
                <a:gd name="adj" fmla="val 4444"/>
              </a:avLst>
            </a:prstGeom>
            <a:solidFill>
              <a:schemeClr val="accent5">
                <a:alpha val="66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62000" y="36004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61847" y="3876199"/>
              <a:ext cx="478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AFTER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7656" y="4225290"/>
              <a:ext cx="224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出问题 → 自己处理完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0704" y="4804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同一类异常第二次出现时已经会自己绕开。</a:t>
              </a:r>
            </a:p>
          </p:txBody>
        </p:sp>
      </p:grpSp>
      <p:grpSp>
        <p:nvGrpSpPr>
          <p:cNvPr id="41" name="chart"/>
          <p:cNvGrpSpPr/>
          <p:nvPr/>
        </p:nvGrpSpPr>
        <p:grpSpPr>
          <a:xfrm>
            <a:off x="5905500" y="3600450"/>
            <a:ext cx="5524500" cy="1714500"/>
            <a:chOff x="5905500" y="3600450"/>
            <a:chExt cx="5524500" cy="1714500"/>
          </a:xfrm>
        </p:grpSpPr>
        <p:sp>
          <p:nvSpPr>
            <p:cNvPr id="24" name="Rectangle 24"/>
            <p:cNvSpPr/>
            <p:nvPr/>
          </p:nvSpPr>
          <p:spPr>
            <a:xfrm>
              <a:off x="5905500" y="3600450"/>
              <a:ext cx="5524500" cy="1714500"/>
            </a:xfrm>
            <a:prstGeom prst="roundRect">
              <a:avLst>
                <a:gd name="adj" fmla="val 4444"/>
              </a:avLst>
            </a:prstGeom>
            <a:solidFill>
              <a:srgbClr val="0E0F14">
                <a:alpha val="68000"/>
              </a:srgb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67247" y="3742849"/>
              <a:ext cx="15688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15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人工介入次数 / 千任务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286500" y="40767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rgbClr val="3A3B4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970867" y="3876199"/>
              <a:ext cx="1197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38 · 传统自动化基线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286500" y="49911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72250" y="4391025"/>
              <a:ext cx="495300" cy="600075"/>
            </a:xfrm>
            <a:prstGeom prst="roundRect">
              <a:avLst>
                <a:gd name="adj" fmla="val 576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3953" y="4175760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24340" y="5114449"/>
              <a:ext cx="1911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10500" y="4610100"/>
              <a:ext cx="495300" cy="381000"/>
            </a:xfrm>
            <a:prstGeom prst="roundRect">
              <a:avLst>
                <a:gd name="adj" fmla="val 7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62203" y="43948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62590" y="5114449"/>
              <a:ext cx="1911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048750" y="4762500"/>
              <a:ext cx="495300" cy="228600"/>
            </a:xfrm>
            <a:prstGeom prst="roundRect">
              <a:avLst>
                <a:gd name="adj" fmla="val 1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45379" y="4547235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00840" y="5114449"/>
              <a:ext cx="1911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287000" y="4886325"/>
              <a:ext cx="495300" cy="104775"/>
            </a:xfrm>
            <a:prstGeom prst="roundRect">
              <a:avLst>
                <a:gd name="adj" fmla="val 27273"/>
              </a:avLst>
            </a:prstGeom>
            <a:solidFill>
              <a:srgbClr val="4ADE8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83629" y="4671060"/>
              <a:ext cx="102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ADE8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39090" y="5114449"/>
              <a:ext cx="1911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757047" y="5791200"/>
            <a:ext cx="10677906" cy="466439"/>
            <a:chOff x="757047" y="5791200"/>
            <a:chExt cx="10677906" cy="466439"/>
          </a:xfrm>
        </p:grpSpPr>
        <p:sp>
          <p:nvSpPr>
            <p:cNvPr id="42" name="Line 42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7047" y="6066949"/>
              <a:ext cx="40165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数据口径：12 家试点企业，2026 Q1–Q4，按每千个自动化任务统计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83090" y="60669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06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ackgroun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17" r="0" b="1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5000"/>
                  </a:schemeClr>
                </a:gs>
                <a:gs pos="44000">
                  <a:schemeClr val="lt1">
                    <a:alpha val="86000"/>
                  </a:schemeClr>
                </a:gs>
                <a:gs pos="74000">
                  <a:schemeClr val="lt1">
                    <a:alpha val="40000"/>
                  </a:schemeClr>
                </a:gs>
                <a:gs pos="100000">
                  <a:schemeClr val="lt1">
                    <a:alpha val="20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50000"/>
                  </a:schemeClr>
                </a:gs>
                <a:gs pos="40000">
                  <a:schemeClr val="lt1">
                    <a:alpha val="4000"/>
                  </a:schemeClr>
                </a:gs>
                <a:gs pos="100000">
                  <a:schemeClr val="lt1">
                    <a:alpha val="6200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8" name="page-kicker"/>
          <p:cNvGrpSpPr/>
          <p:nvPr/>
        </p:nvGrpSpPr>
        <p:grpSpPr>
          <a:xfrm>
            <a:off x="757238" y="863441"/>
            <a:ext cx="1374887" cy="161925"/>
            <a:chOff x="757238" y="863441"/>
            <a:chExt cx="1374887" cy="161925"/>
          </a:xfrm>
        </p:grpSpPr>
        <p:sp>
          <p:nvSpPr>
            <p:cNvPr id="7" name="TextBox 7"/>
            <p:cNvSpPr txBox="1"/>
            <p:nvPr/>
          </p:nvSpPr>
          <p:spPr>
            <a:xfrm>
              <a:off x="757238" y="863441"/>
              <a:ext cx="13748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3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NEXT STEP · 07</a:t>
              </a:r>
            </a:p>
          </p:txBody>
        </p:sp>
      </p:grpSp>
      <p:grpSp>
        <p:nvGrpSpPr>
          <p:cNvPr id="11" name="closing-claim"/>
          <p:cNvGrpSpPr/>
          <p:nvPr/>
        </p:nvGrpSpPr>
        <p:grpSpPr>
          <a:xfrm>
            <a:off x="742950" y="2061210"/>
            <a:ext cx="7953756" cy="1562100"/>
            <a:chOff x="742950" y="2061210"/>
            <a:chExt cx="7953756" cy="1562100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2061210"/>
              <a:ext cx="795375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7F7F9"/>
                  </a:solidFill>
                  <a:latin typeface="+mn-lt"/>
                  <a:ea typeface="+mn-ea"/>
                  <a:cs typeface="+mn-cs"/>
                </a:rPr>
                <a:t>挑一个你最不想再手工做的流程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280416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交给它跑两周</a:t>
              </a:r>
            </a:p>
          </p:txBody>
        </p:sp>
      </p:grpSp>
      <p:grpSp>
        <p:nvGrpSpPr>
          <p:cNvPr id="15" name="closing-detail"/>
          <p:cNvGrpSpPr/>
          <p:nvPr/>
        </p:nvGrpSpPr>
        <p:grpSpPr>
          <a:xfrm>
            <a:off x="754380" y="3714750"/>
            <a:ext cx="4053840" cy="931545"/>
            <a:chOff x="754380" y="3714750"/>
            <a:chExt cx="4053840" cy="931545"/>
          </a:xfrm>
        </p:grpSpPr>
        <p:sp>
          <p:nvSpPr>
            <p:cNvPr id="12" name="Line 12"/>
            <p:cNvSpPr/>
            <p:nvPr/>
          </p:nvSpPr>
          <p:spPr>
            <a:xfrm>
              <a:off x="762000" y="37147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4380" y="40100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不需要先改造系统，不需要先写规范文档。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380" y="43529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接进来，给它权限边界，然后看它怎么收尾。</a:t>
              </a:r>
            </a:p>
          </p:txBody>
        </p:sp>
      </p:grpSp>
      <p:grpSp>
        <p:nvGrpSpPr>
          <p:cNvPr id="18" name="closing-action"/>
          <p:cNvGrpSpPr/>
          <p:nvPr/>
        </p:nvGrpSpPr>
        <p:grpSpPr>
          <a:xfrm>
            <a:off x="762000" y="4953000"/>
            <a:ext cx="4000500" cy="628650"/>
            <a:chOff x="762000" y="4953000"/>
            <a:chExt cx="4000500" cy="628650"/>
          </a:xfrm>
        </p:grpSpPr>
        <p:sp>
          <p:nvSpPr>
            <p:cNvPr id="16" name="Rectangle 16"/>
            <p:cNvSpPr/>
            <p:nvPr/>
          </p:nvSpPr>
          <p:spPr>
            <a:xfrm>
              <a:off x="762000" y="4953000"/>
              <a:ext cx="4000500" cy="628650"/>
            </a:xfrm>
            <a:prstGeom prst="roundRect">
              <a:avLst>
                <a:gd name="adj" fmla="val 1212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48840" y="5191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090C"/>
                  </a:solidFill>
                  <a:latin typeface="+mn-lt"/>
                  <a:ea typeface="+mn-ea"/>
                  <a:cs typeface="+mn-cs"/>
                </a:rPr>
                <a:t>申请试点接入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757047" y="5791200"/>
            <a:ext cx="10677906" cy="466439"/>
            <a:chOff x="757047" y="5791200"/>
            <a:chExt cx="10677906" cy="466439"/>
          </a:xfrm>
        </p:grpSpPr>
        <p:sp>
          <p:nvSpPr>
            <p:cNvPr id="19" name="Line 19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7047" y="6066949"/>
              <a:ext cx="2547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E8F9A"/>
                  </a:solidFill>
                  <a:latin typeface="+mn-lt"/>
                  <a:ea typeface="+mn-ea"/>
                  <a:cs typeface="+mn-cs"/>
                </a:rPr>
                <a:t>智流 OS · AgentFlow OS — 2026 战略发布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83090" y="60669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F8090"/>
                  </a:solidFill>
                  <a:latin typeface="+mn-lt"/>
                  <a:ea typeface="+mn-ea"/>
                  <a:cs typeface="+mn-cs"/>
                </a:rPr>
                <a:t>07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gentflow-os-launch">
  <a:themeElements>
    <a:clrScheme name="agentflow-os-launch">
      <a:dk1>
        <a:srgbClr val="000000"/>
      </a:dk1>
      <a:lt1>
        <a:srgbClr val="08090C"/>
      </a:lt1>
      <a:dk2>
        <a:srgbClr val="1F497D"/>
      </a:dk2>
      <a:lt2>
        <a:srgbClr val="08090C"/>
      </a:lt2>
      <a:accent1>
        <a:srgbClr val="6E7BFF"/>
      </a:accent1>
      <a:accent2>
        <a:srgbClr val="6E7BFF"/>
      </a:accent2>
      <a:accent3>
        <a:srgbClr val="6E7BFF"/>
      </a:accent3>
      <a:accent4>
        <a:srgbClr val="8064A2"/>
      </a:accent4>
      <a:accent5>
        <a:srgbClr val="12131A"/>
      </a:accent5>
      <a:accent6>
        <a:srgbClr val="23242E"/>
      </a:accent6>
      <a:hlink>
        <a:srgbClr val="6E7BFF"/>
      </a:hlink>
      <a:folHlink>
        <a:srgbClr val="6E7BFF"/>
      </a:folHlink>
    </a:clrScheme>
    <a:fontScheme name="agentflow-os-launch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flow-os-laun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gentflow-os-launch">
  <a:themeElements>
    <a:clrScheme name="agentflow-os-launch">
      <a:dk1>
        <a:srgbClr val="000000"/>
      </a:dk1>
      <a:lt1>
        <a:srgbClr val="08090C"/>
      </a:lt1>
      <a:dk2>
        <a:srgbClr val="1F497D"/>
      </a:dk2>
      <a:lt2>
        <a:srgbClr val="08090C"/>
      </a:lt2>
      <a:accent1>
        <a:srgbClr val="6E7BFF"/>
      </a:accent1>
      <a:accent2>
        <a:srgbClr val="6E7BFF"/>
      </a:accent2>
      <a:accent3>
        <a:srgbClr val="6E7BFF"/>
      </a:accent3>
      <a:accent4>
        <a:srgbClr val="8064A2"/>
      </a:accent4>
      <a:accent5>
        <a:srgbClr val="12131A"/>
      </a:accent5>
      <a:accent6>
        <a:srgbClr val="23242E"/>
      </a:accent6>
      <a:hlink>
        <a:srgbClr val="6E7BFF"/>
      </a:hlink>
      <a:folHlink>
        <a:srgbClr val="6E7BFF"/>
      </a:folHlink>
    </a:clrScheme>
    <a:fontScheme name="agentflow-os-launch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flow-os-laun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2026-09-23T09:49:25Z</dcterms:created>
  <dcterms:modified xsi:type="dcterms:W3CDTF">2026-09-23T09:49:25Z</dcterms:modified>
  <cp:category/>
  <cp:contentStatus/>
</cp:coreProperties>
</file>